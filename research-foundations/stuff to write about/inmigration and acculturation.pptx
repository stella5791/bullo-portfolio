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9" r:id="rId3"/>
    <p:sldId id="257" r:id="rId4"/>
    <p:sldId id="262" r:id="rId5"/>
    <p:sldId id="263" r:id="rId6"/>
    <p:sldId id="265" r:id="rId7"/>
    <p:sldId id="266" r:id="rId8"/>
    <p:sldId id="267" r:id="rId9"/>
    <p:sldId id="268" r:id="rId10"/>
    <p:sldId id="264" r:id="rId11"/>
    <p:sldId id="271" r:id="rId12"/>
    <p:sldId id="281" r:id="rId13"/>
    <p:sldId id="280" r:id="rId14"/>
    <p:sldId id="269" r:id="rId15"/>
    <p:sldId id="270" r:id="rId16"/>
    <p:sldId id="276" r:id="rId17"/>
    <p:sldId id="283" r:id="rId18"/>
    <p:sldId id="288" r:id="rId19"/>
    <p:sldId id="284" r:id="rId20"/>
    <p:sldId id="285" r:id="rId21"/>
    <p:sldId id="272" r:id="rId22"/>
    <p:sldId id="273" r:id="rId23"/>
    <p:sldId id="275" r:id="rId24"/>
    <p:sldId id="282" r:id="rId25"/>
    <p:sldId id="286" r:id="rId26"/>
    <p:sldId id="287" r:id="rId27"/>
    <p:sldId id="289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E9B68-BB4A-426F-B70F-F8AD9F7C98AA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D19CB-7F6B-4D88-9B80-1221E0B7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865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http://www.youtube.com/watch?v=lOZmqIwqur4&amp;feature=related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6D19CB-7F6B-4D88-9B80-1221E0B7EE1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626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http://www.youtube.com/watch?v=hcoOENLfpUI&amp;feature=related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6D19CB-7F6B-4D88-9B80-1221E0B7EE1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49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http://www.youtube.com/watch?v=yuqXO-ENu5Y</a:t>
            </a:r>
          </a:p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6D19CB-7F6B-4D88-9B80-1221E0B7EE1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038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51AE0DF-CA78-422C-9947-24AD929EE870}" type="datetimeFigureOut">
              <a:rPr lang="en-GB" smtClean="0"/>
              <a:t>22/10/2012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4AE5553-A383-47FE-A059-8FCAAD6AAF6E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lOZmqIwqur4&amp;feature=relate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hcoOENLfpUI&amp;feature=relate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yuqXO-ENu5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320610"/>
            <a:ext cx="6172200" cy="1894362"/>
          </a:xfrm>
        </p:spPr>
        <p:txBody>
          <a:bodyPr/>
          <a:lstStyle/>
          <a:p>
            <a:r>
              <a:rPr lang="en-GB" dirty="0" smtClean="0"/>
              <a:t>Intercultural Communication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Week 5: Immigration and acculturation </a:t>
            </a:r>
          </a:p>
          <a:p>
            <a:endParaRPr lang="en-GB" dirty="0"/>
          </a:p>
          <a:p>
            <a:r>
              <a:rPr lang="en-GB" dirty="0" smtClean="0"/>
              <a:t>Dr </a:t>
            </a:r>
            <a:r>
              <a:rPr lang="en-GB" dirty="0"/>
              <a:t>S</a:t>
            </a:r>
            <a:r>
              <a:rPr lang="en-GB" dirty="0" smtClean="0"/>
              <a:t>tella </a:t>
            </a:r>
            <a:r>
              <a:rPr lang="en-GB" dirty="0" err="1" smtClean="0"/>
              <a:t>Bullo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5400000">
            <a:off x="7094821" y="4146538"/>
            <a:ext cx="3240361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© 2012, SAGE Publications, </a:t>
            </a:r>
            <a:r>
              <a:rPr lang="en-US" dirty="0" err="1" smtClean="0"/>
              <a:t>Jandt</a:t>
            </a:r>
            <a:r>
              <a:rPr lang="en-US" dirty="0" smtClean="0"/>
              <a:t>, ch.12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16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Immigration and Acculturation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/>
              <a:t>National boundaries do not necessarily overlap cultural boundaries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 smtClean="0"/>
              <a:t>At times, boundaries </a:t>
            </a:r>
            <a:r>
              <a:rPr lang="en-US" dirty="0"/>
              <a:t>sometimes result in a blended </a:t>
            </a:r>
            <a:r>
              <a:rPr lang="en-US" dirty="0" smtClean="0"/>
              <a:t>culture</a:t>
            </a:r>
            <a:endParaRPr lang="en-US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/>
              <a:t>At other times, national boundaries denote distinctive cultural differences and tensions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dirty="0"/>
              <a:t>Within national cultures, co-cultures can exist in voluntary or fixed separation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00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Immigration is a test ICC skills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smtClean="0"/>
              <a:t>Non-immigrants </a:t>
            </a:r>
          </a:p>
          <a:p>
            <a:pPr lvl="1">
              <a:lnSpc>
                <a:spcPct val="150000"/>
              </a:lnSpc>
            </a:pPr>
            <a:r>
              <a:rPr lang="en-GB" sz="2400" dirty="0"/>
              <a:t>T</a:t>
            </a:r>
            <a:r>
              <a:rPr lang="en-GB" sz="2400" dirty="0" smtClean="0"/>
              <a:t>ourists &amp; sojourners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Immigrants </a:t>
            </a:r>
          </a:p>
          <a:p>
            <a:pPr lvl="1">
              <a:lnSpc>
                <a:spcPct val="150000"/>
              </a:lnSpc>
            </a:pPr>
            <a:r>
              <a:rPr lang="en-GB" sz="2400" dirty="0" smtClean="0"/>
              <a:t>Refugees &amp; </a:t>
            </a:r>
            <a:r>
              <a:rPr lang="en-GB" sz="2400" dirty="0" err="1" smtClean="0"/>
              <a:t>asylees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dirty="0" smtClean="0"/>
              <a:t> Expatriates </a:t>
            </a:r>
            <a:r>
              <a:rPr lang="en-GB" dirty="0"/>
              <a:t>(</a:t>
            </a:r>
            <a:r>
              <a:rPr lang="en-US" dirty="0"/>
              <a:t>a noncitizen worker who lives in a country for an indeterminate length of time</a:t>
            </a:r>
            <a:r>
              <a:rPr lang="en-US" dirty="0" smtClean="0"/>
              <a:t>)</a:t>
            </a:r>
            <a:endParaRPr lang="en-GB" dirty="0"/>
          </a:p>
          <a:p>
            <a:pPr marL="365760" lvl="1" indent="0">
              <a:lnSpc>
                <a:spcPct val="150000"/>
              </a:lnSpc>
              <a:buNone/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395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Third culture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Third-culture </a:t>
            </a:r>
            <a:r>
              <a:rPr lang="en-US" dirty="0"/>
              <a:t>kids to refer to children in expatriate families who reside outside of their home culture for years at a </a:t>
            </a:r>
            <a:r>
              <a:rPr lang="en-US" dirty="0" smtClean="0"/>
              <a:t>time (</a:t>
            </a:r>
            <a:r>
              <a:rPr lang="en-US" dirty="0"/>
              <a:t>Hill </a:t>
            </a:r>
            <a:r>
              <a:rPr lang="en-US" dirty="0" smtClean="0"/>
              <a:t>Useem</a:t>
            </a:r>
            <a:r>
              <a:rPr lang="en-US" dirty="0"/>
              <a:t>,</a:t>
            </a:r>
            <a:r>
              <a:rPr lang="en-US" dirty="0" smtClean="0"/>
              <a:t>1976</a:t>
            </a:r>
            <a:r>
              <a:rPr lang="en-US" dirty="0"/>
              <a:t>) 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</a:pPr>
            <a:endParaRPr lang="en-GB" dirty="0" smtClean="0"/>
          </a:p>
          <a:p>
            <a:pPr lvl="0">
              <a:lnSpc>
                <a:spcPct val="150000"/>
              </a:lnSpc>
            </a:pPr>
            <a:r>
              <a:rPr lang="en-US" dirty="0"/>
              <a:t>These people integrate elements of their home culture and their various cultures of residence into a third, different and distinct culture. 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04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Third culture II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dirty="0" smtClean="0"/>
              <a:t>They </a:t>
            </a:r>
            <a:r>
              <a:rPr lang="en-US" dirty="0"/>
              <a:t>may experience cultural marginality because of no longer feeling comfortable in any specific culture. </a:t>
            </a:r>
            <a:endParaRPr lang="en-GB" dirty="0"/>
          </a:p>
          <a:p>
            <a:pPr lvl="0">
              <a:lnSpc>
                <a:spcPct val="150000"/>
              </a:lnSpc>
            </a:pPr>
            <a:r>
              <a:rPr lang="en-US" dirty="0"/>
              <a:t>Studies have shown that third-culture kids have a high level of interest in travel and learning languages and feel accepting of cultures and diversity.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314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Citizenship acquisition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by </a:t>
            </a:r>
            <a:r>
              <a:rPr lang="en-US" dirty="0" smtClean="0"/>
              <a:t>birth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by blood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by </a:t>
            </a:r>
            <a:r>
              <a:rPr lang="en-US" dirty="0"/>
              <a:t>naturalization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796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Worldwide migration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number of people counted as living outside their country of birth has almost doubled during the last 50 </a:t>
            </a:r>
            <a:r>
              <a:rPr lang="en-US" dirty="0" smtClean="0"/>
              <a:t>years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Brazil is home to the largest Japanese community outside Japan. </a:t>
            </a:r>
            <a:endParaRPr lang="en-GB" dirty="0"/>
          </a:p>
          <a:p>
            <a:pPr lvl="0">
              <a:lnSpc>
                <a:spcPct val="150000"/>
              </a:lnSpc>
            </a:pPr>
            <a:r>
              <a:rPr lang="en-US" dirty="0"/>
              <a:t>The Japanese in Peru have gone through periods of prejudice to assimilation as an immigrant’s son became a popular president of the country.</a:t>
            </a:r>
            <a:endParaRPr lang="en-GB" dirty="0"/>
          </a:p>
          <a:p>
            <a:pPr lvl="0">
              <a:lnSpc>
                <a:spcPct val="150000"/>
              </a:lnSpc>
            </a:pPr>
            <a:r>
              <a:rPr lang="en-US" dirty="0"/>
              <a:t>Tens of thousands of middle-class Koreans from South Korea and North Korea moved to Brazil. 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631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Worldwide </a:t>
            </a:r>
            <a:r>
              <a:rPr lang="en-GB" dirty="0" smtClean="0"/>
              <a:t>migration II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US" dirty="0"/>
              <a:t>Argentina, with a population of about 42 million, is a nation of immigrants.</a:t>
            </a:r>
            <a:endParaRPr lang="en-GB" sz="36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By 1914, more than a third of Argentina’s population was foreign born.</a:t>
            </a:r>
            <a:endParaRPr lang="en-GB" sz="36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Argentina has been described as the “most European” of the Americas. </a:t>
            </a:r>
            <a:endParaRPr lang="en-GB" sz="3600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218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Worldwide migration III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US" dirty="0"/>
              <a:t>Western Europe </a:t>
            </a:r>
            <a:r>
              <a:rPr lang="en-US" dirty="0" smtClean="0"/>
              <a:t>deals </a:t>
            </a:r>
            <a:r>
              <a:rPr lang="en-US" dirty="0"/>
              <a:t>with increasing immigration, particularly from Muslim countries. </a:t>
            </a:r>
            <a:endParaRPr lang="en-GB" dirty="0"/>
          </a:p>
          <a:p>
            <a:pPr lvl="0">
              <a:lnSpc>
                <a:spcPct val="150000"/>
              </a:lnSpc>
            </a:pPr>
            <a:r>
              <a:rPr lang="en-US" dirty="0"/>
              <a:t>The Islamic population in Europe has doubled over the past decade to as much as 15 million.</a:t>
            </a:r>
            <a:endParaRPr lang="en-GB" dirty="0"/>
          </a:p>
          <a:p>
            <a:pPr lvl="0">
              <a:lnSpc>
                <a:spcPct val="150000"/>
              </a:lnSpc>
            </a:pPr>
            <a:r>
              <a:rPr lang="en-US" dirty="0"/>
              <a:t>European countries have adopted various policies to the growing Muslim immigration.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08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Migration within countries: </a:t>
            </a:r>
            <a:r>
              <a:rPr lang="en-US" dirty="0"/>
              <a:t>China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Most of the migrants originate from the central and western inland regions and move to the cities in the eastern coastal provinces.</a:t>
            </a:r>
            <a:endParaRPr lang="en-GB" dirty="0"/>
          </a:p>
          <a:p>
            <a:pPr lvl="0">
              <a:lnSpc>
                <a:spcPct val="150000"/>
              </a:lnSpc>
            </a:pPr>
            <a:r>
              <a:rPr lang="en-US" dirty="0"/>
              <a:t>Each year millions return to their villages to see their spouses, children, and parents for two weeks of holiday at Chinese New Year. </a:t>
            </a:r>
            <a:endParaRPr lang="en-GB" dirty="0"/>
          </a:p>
          <a:p>
            <a:pPr lvl="0">
              <a:lnSpc>
                <a:spcPct val="150000"/>
              </a:lnSpc>
            </a:pPr>
            <a:r>
              <a:rPr lang="en-US" dirty="0"/>
              <a:t>China needs these migrants for economic growth, but they are not accorded the rights of urban residents.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020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5"/>
          <a:stretch/>
        </p:blipFill>
        <p:spPr>
          <a:xfrm>
            <a:off x="1691680" y="908720"/>
            <a:ext cx="5473896" cy="5038245"/>
          </a:xfrm>
        </p:spPr>
      </p:pic>
    </p:spTree>
    <p:extLst>
      <p:ext uri="{BB962C8B-B14F-4D97-AF65-F5344CB8AC3E}">
        <p14:creationId xmlns:p14="http://schemas.microsoft.com/office/powerpoint/2010/main" val="392244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International migration</a:t>
            </a:r>
            <a:endParaRPr lang="en-GB" dirty="0"/>
          </a:p>
        </p:txBody>
      </p:sp>
      <p:pic>
        <p:nvPicPr>
          <p:cNvPr id="1027" name="Picture 3">
            <a:hlinkClick r:id="rId3"/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9" t="18277" r="39352" b="38352"/>
          <a:stretch/>
        </p:blipFill>
        <p:spPr bwMode="auto">
          <a:xfrm>
            <a:off x="1331640" y="1791982"/>
            <a:ext cx="6538892" cy="386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42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Worldwide migration </a:t>
            </a:r>
            <a:endParaRPr lang="en-GB" dirty="0"/>
          </a:p>
        </p:txBody>
      </p:sp>
      <p:pic>
        <p:nvPicPr>
          <p:cNvPr id="1026" name="Picture 2">
            <a:hlinkClick r:id="rId3"/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35912" r="45488" b="19643"/>
          <a:stretch/>
        </p:blipFill>
        <p:spPr bwMode="auto">
          <a:xfrm>
            <a:off x="1259632" y="1678329"/>
            <a:ext cx="5976663" cy="4323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728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Migration in the UK (1922 British Nationality Law)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dirty="0" smtClean="0"/>
              <a:t>From </a:t>
            </a:r>
            <a:r>
              <a:rPr lang="en-GB" dirty="0"/>
              <a:t>the Republic of Ireland and from the former colonies and territories of the British Empire </a:t>
            </a:r>
            <a:endParaRPr lang="en-GB" dirty="0" smtClean="0"/>
          </a:p>
          <a:p>
            <a:pPr lvl="1">
              <a:lnSpc>
                <a:spcPct val="150000"/>
              </a:lnSpc>
            </a:pPr>
            <a:r>
              <a:rPr lang="en-GB" dirty="0" smtClean="0"/>
              <a:t>India</a:t>
            </a:r>
            <a:r>
              <a:rPr lang="en-GB" dirty="0"/>
              <a:t>, Bangladesh, Pakistan, the Caribbean, South Africa, Kenya and Hong Kong. </a:t>
            </a:r>
            <a:endParaRPr lang="en-GB" dirty="0" smtClean="0"/>
          </a:p>
          <a:p>
            <a:pPr>
              <a:lnSpc>
                <a:spcPct val="150000"/>
              </a:lnSpc>
            </a:pPr>
            <a:r>
              <a:rPr lang="en-GB" dirty="0" smtClean="0"/>
              <a:t>Others </a:t>
            </a:r>
            <a:r>
              <a:rPr lang="en-GB" dirty="0"/>
              <a:t>have come as asylum seekers, seeking protection as refugees under the United Nations 1951 Refugee </a:t>
            </a:r>
            <a:r>
              <a:rPr lang="en-GB" dirty="0" smtClean="0"/>
              <a:t>Convention</a:t>
            </a:r>
          </a:p>
          <a:p>
            <a:pPr>
              <a:lnSpc>
                <a:spcPct val="150000"/>
              </a:lnSpc>
            </a:pPr>
            <a:r>
              <a:rPr lang="en-GB" dirty="0"/>
              <a:t>M</a:t>
            </a:r>
            <a:r>
              <a:rPr lang="en-GB" dirty="0" smtClean="0"/>
              <a:t>ember </a:t>
            </a:r>
            <a:r>
              <a:rPr lang="en-GB" dirty="0"/>
              <a:t>states of the European Union, exercising one of the European Union's Four Freedoms.</a:t>
            </a:r>
          </a:p>
        </p:txBody>
      </p:sp>
    </p:spTree>
    <p:extLst>
      <p:ext uri="{BB962C8B-B14F-4D97-AF65-F5344CB8AC3E}">
        <p14:creationId xmlns:p14="http://schemas.microsoft.com/office/powerpoint/2010/main" val="8058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Migration in the UK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in 2009, 567,000 people arrived to live in the UK 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371,000 left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net </a:t>
            </a:r>
            <a:r>
              <a:rPr lang="en-GB" dirty="0"/>
              <a:t>inward </a:t>
            </a:r>
            <a:r>
              <a:rPr lang="en-GB" dirty="0" smtClean="0"/>
              <a:t>migration:196,000 (in 2009). </a:t>
            </a:r>
            <a:endParaRPr lang="en-GB" dirty="0" smtClean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548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Multiculturalism in the UK</a:t>
            </a:r>
            <a:endParaRPr lang="en-GB" dirty="0"/>
          </a:p>
        </p:txBody>
      </p:sp>
      <p:pic>
        <p:nvPicPr>
          <p:cNvPr id="2050" name="Picture 2">
            <a:hlinkClick r:id="rId3"/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2" t="34524" r="41100" b="20040"/>
          <a:stretch/>
        </p:blipFill>
        <p:spPr bwMode="auto">
          <a:xfrm>
            <a:off x="971600" y="1833142"/>
            <a:ext cx="6979975" cy="4016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249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Culture shock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Intercultural barrier identified as anxiety</a:t>
            </a:r>
          </a:p>
          <a:p>
            <a:pPr>
              <a:lnSpc>
                <a:spcPct val="150000"/>
              </a:lnSpc>
            </a:pPr>
            <a:r>
              <a:rPr lang="en-US" dirty="0"/>
              <a:t>Feelings of disorientation and anxiety experienced for a period of time while living in a foreign </a:t>
            </a:r>
            <a:r>
              <a:rPr lang="en-US" dirty="0" smtClean="0"/>
              <a:t>country (Oberg,1960</a:t>
            </a:r>
            <a:r>
              <a:rPr lang="en-US" dirty="0"/>
              <a:t>)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Results </a:t>
            </a:r>
            <a:r>
              <a:rPr lang="en-US" dirty="0"/>
              <a:t>from awareness that assumptions about life and ways of behaving are no longer appropriate or functional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Psychological and physiological effects </a:t>
            </a:r>
            <a:endParaRPr lang="en-US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272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Culture shock: testimonials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87208" cy="487375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GB" dirty="0" smtClean="0"/>
              <a:t>“…soon after arriving in the US from Peru, I cried almost every day. I was so tense…I escaped into sleeping more than twelve hours a day and dreamed of my life, family and friends in Lima. After three months of isolating myself in the house and speaking to no one, I ventured out. I then began to criticise everything about this new culture: values, customs, climate, and its people. During this time I began to idealise my own homeland. I also began to have severe headaches. Finally I consulted a doctors who was not able to help by only prescribing drugs. When I finally learnt that I was suffering from ‘culture shock’ I began to see things from a new point of view and was better able to accept myself and my feelings…” (R. </a:t>
            </a:r>
            <a:r>
              <a:rPr lang="en-GB" dirty="0" err="1" smtClean="0"/>
              <a:t>Bimrose</a:t>
            </a:r>
            <a:r>
              <a:rPr lang="en-GB" dirty="0"/>
              <a:t> </a:t>
            </a:r>
            <a:r>
              <a:rPr lang="en-GB" dirty="0" smtClean="0"/>
              <a:t>in Landis &amp; </a:t>
            </a:r>
            <a:r>
              <a:rPr lang="en-GB" dirty="0" err="1" smtClean="0"/>
              <a:t>Brislin</a:t>
            </a:r>
            <a:r>
              <a:rPr lang="en-GB" dirty="0" smtClean="0"/>
              <a:t>, 1983, p. 30).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028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Five </a:t>
            </a:r>
            <a:r>
              <a:rPr lang="en-US" sz="3200" dirty="0"/>
              <a:t>stages of culture shock (Adler &amp; </a:t>
            </a:r>
            <a:r>
              <a:rPr lang="en-US" sz="3200" dirty="0" smtClean="0"/>
              <a:t>Pedersen, 1975; 1995)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844824"/>
            <a:ext cx="7467600" cy="4320480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150000"/>
              </a:lnSpc>
            </a:pPr>
            <a:r>
              <a:rPr lang="en-US" sz="2400" dirty="0"/>
              <a:t>Honeymoon stage or euphoria 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/>
              <a:t>Disintegration of familiar cues and irritation </a:t>
            </a:r>
            <a:r>
              <a:rPr lang="en-US" sz="2400" dirty="0"/>
              <a:t>with differences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Reintegration of new </a:t>
            </a:r>
            <a:r>
              <a:rPr lang="en-US" sz="2400" dirty="0" smtClean="0"/>
              <a:t>cues &amp; ability to function in new culture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 smtClean="0"/>
              <a:t>Gradual adjustment; gradual autonomy; seeing good and bad elements in new culture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/>
              <a:t>Reciprocal </a:t>
            </a:r>
            <a:r>
              <a:rPr lang="en-US" sz="2400" dirty="0"/>
              <a:t>interdependence or biculturalism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353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culture shock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If a person has adjusted exceptionally well to the host culture, reverse culture shock may occur upon return to the home country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183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cculturation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No immigrant can escape </a:t>
            </a:r>
            <a:r>
              <a:rPr lang="en-US" dirty="0" smtClean="0"/>
              <a:t>acculturation</a:t>
            </a:r>
          </a:p>
          <a:p>
            <a:pPr>
              <a:lnSpc>
                <a:spcPct val="150000"/>
              </a:lnSpc>
            </a:pPr>
            <a:r>
              <a:rPr lang="en-US" dirty="0"/>
              <a:t>I</a:t>
            </a:r>
            <a:r>
              <a:rPr lang="en-US" dirty="0" smtClean="0"/>
              <a:t>mmigrant’s </a:t>
            </a:r>
            <a:r>
              <a:rPr lang="en-US" dirty="0"/>
              <a:t>learning and adopting the norms and values of the new host culture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Balance between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US" dirty="0"/>
              <a:t>the value placed on maintaining one’s original cultural identity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value given to maintaining relationships </a:t>
            </a:r>
            <a:r>
              <a:rPr lang="en-US" dirty="0" smtClean="0"/>
              <a:t>in </a:t>
            </a:r>
            <a:r>
              <a:rPr lang="en-US" dirty="0"/>
              <a:t>one’s new </a:t>
            </a:r>
            <a:r>
              <a:rPr lang="en-US" dirty="0" smtClean="0"/>
              <a:t>culture</a:t>
            </a:r>
            <a:r>
              <a:rPr lang="en-US" dirty="0"/>
              <a:t> </a:t>
            </a:r>
            <a:r>
              <a:rPr lang="en-US" dirty="0" smtClean="0"/>
              <a:t>(Berry</a:t>
            </a:r>
            <a:r>
              <a:rPr lang="en-US" dirty="0"/>
              <a:t>, Kim, and </a:t>
            </a:r>
            <a:r>
              <a:rPr lang="en-US" dirty="0" err="1"/>
              <a:t>Boski</a:t>
            </a:r>
            <a:r>
              <a:rPr lang="en-US" dirty="0"/>
              <a:t>, 1987)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288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1143000"/>
          </a:xfrm>
        </p:spPr>
        <p:txBody>
          <a:bodyPr/>
          <a:lstStyle/>
          <a:p>
            <a:r>
              <a:rPr lang="en-GB" dirty="0" smtClean="0"/>
              <a:t>Predictors of acculturation </a:t>
            </a:r>
            <a:r>
              <a:rPr lang="en-US" dirty="0" smtClean="0"/>
              <a:t>(Yun Kim,1986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The similarity of the original culture to the new host culture </a:t>
            </a:r>
            <a:endParaRPr lang="en-US" dirty="0" smtClean="0"/>
          </a:p>
          <a:p>
            <a:pPr lvl="0">
              <a:lnSpc>
                <a:spcPct val="150000"/>
              </a:lnSpc>
            </a:pPr>
            <a:r>
              <a:rPr lang="en-US" dirty="0" smtClean="0"/>
              <a:t>Age</a:t>
            </a:r>
            <a:endParaRPr lang="en-GB" dirty="0"/>
          </a:p>
          <a:p>
            <a:pPr lvl="0">
              <a:lnSpc>
                <a:spcPct val="150000"/>
              </a:lnSpc>
            </a:pPr>
            <a:r>
              <a:rPr lang="en-US" dirty="0"/>
              <a:t>Educational </a:t>
            </a:r>
            <a:r>
              <a:rPr lang="en-US" dirty="0" smtClean="0"/>
              <a:t>background</a:t>
            </a:r>
            <a:endParaRPr lang="en-GB" dirty="0" smtClean="0"/>
          </a:p>
          <a:p>
            <a:pPr lvl="0">
              <a:lnSpc>
                <a:spcPct val="150000"/>
              </a:lnSpc>
            </a:pPr>
            <a:r>
              <a:rPr lang="en-GB" dirty="0" smtClean="0"/>
              <a:t>Personality 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US" dirty="0"/>
              <a:t>The effect of media and transportation advances has slowed acculturation process---social media made it easier to connect to like cultures, home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027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Processes in Acculturation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556792"/>
            <a:ext cx="7467600" cy="4873752"/>
          </a:xfrm>
        </p:spPr>
        <p:txBody>
          <a:bodyPr>
            <a:normAutofit fontScale="77500" lnSpcReduction="20000"/>
          </a:bodyPr>
          <a:lstStyle/>
          <a:p>
            <a:pPr lvl="1">
              <a:lnSpc>
                <a:spcPct val="170000"/>
              </a:lnSpc>
            </a:pPr>
            <a:r>
              <a:rPr lang="en-US" sz="2400" b="1" dirty="0" smtClean="0"/>
              <a:t>Marginalization</a:t>
            </a:r>
            <a:r>
              <a:rPr lang="en-US" sz="2400" dirty="0" smtClean="0"/>
              <a:t>: losing </a:t>
            </a:r>
            <a:r>
              <a:rPr lang="en-US" sz="2400" dirty="0"/>
              <a:t>one’s cultural identity and not having any psychological contact with the larger society. </a:t>
            </a:r>
            <a:endParaRPr lang="en-GB" sz="3600" dirty="0"/>
          </a:p>
          <a:p>
            <a:pPr lvl="1">
              <a:lnSpc>
                <a:spcPct val="170000"/>
              </a:lnSpc>
            </a:pPr>
            <a:r>
              <a:rPr lang="en-US" sz="2400" b="1" dirty="0"/>
              <a:t>Separation and </a:t>
            </a:r>
            <a:r>
              <a:rPr lang="en-US" sz="2400" b="1" dirty="0" smtClean="0"/>
              <a:t>segregation</a:t>
            </a:r>
            <a:r>
              <a:rPr lang="en-US" sz="2400" dirty="0" smtClean="0"/>
              <a:t>: maintaining </a:t>
            </a:r>
            <a:r>
              <a:rPr lang="en-US" sz="2400" dirty="0"/>
              <a:t>one’s original culture and not participating in the new culture. </a:t>
            </a:r>
            <a:endParaRPr lang="en-GB" sz="3600" dirty="0"/>
          </a:p>
          <a:p>
            <a:pPr lvl="1">
              <a:lnSpc>
                <a:spcPct val="170000"/>
              </a:lnSpc>
            </a:pPr>
            <a:r>
              <a:rPr lang="en-US" sz="2400" b="1" dirty="0"/>
              <a:t>Assimilation</a:t>
            </a:r>
            <a:r>
              <a:rPr lang="en-US" sz="2400" dirty="0"/>
              <a:t> results from giving up one’s original cultural identity and moving into full participation in the new culture. </a:t>
            </a:r>
            <a:endParaRPr lang="en-GB" sz="3600" dirty="0"/>
          </a:p>
          <a:p>
            <a:pPr lvl="1">
              <a:lnSpc>
                <a:spcPct val="170000"/>
              </a:lnSpc>
            </a:pPr>
            <a:r>
              <a:rPr lang="en-US" sz="2400" b="1" dirty="0"/>
              <a:t>Integration</a:t>
            </a:r>
            <a:r>
              <a:rPr lang="en-US" sz="2400" dirty="0"/>
              <a:t> is maintaining important parts of one’s original culture as well as becoming an integral part of the new </a:t>
            </a:r>
            <a:r>
              <a:rPr lang="en-US" sz="2400" dirty="0" smtClean="0"/>
              <a:t>culture</a:t>
            </a:r>
            <a:r>
              <a:rPr lang="en-US" sz="2400" dirty="0"/>
              <a:t> </a:t>
            </a:r>
            <a:r>
              <a:rPr lang="en-US" sz="2400" dirty="0" smtClean="0"/>
              <a:t>– biculturalism 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01200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Attitudes to </a:t>
            </a:r>
            <a:r>
              <a:rPr lang="en-GB" dirty="0" smtClean="0"/>
              <a:t>immigration in Britain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Attitudes towards immigration and immigrants themselves are largely </a:t>
            </a:r>
            <a:r>
              <a:rPr lang="en-GB" dirty="0" smtClean="0"/>
              <a:t>negative</a:t>
            </a:r>
          </a:p>
          <a:p>
            <a:pPr>
              <a:lnSpc>
                <a:spcPct val="150000"/>
              </a:lnSpc>
            </a:pPr>
            <a:r>
              <a:rPr lang="en-GB" dirty="0"/>
              <a:t>Immigration and race relations are consistently regarded as one of the most important issues facing Britain </a:t>
            </a:r>
            <a:endParaRPr lang="en-GB" dirty="0" smtClean="0"/>
          </a:p>
          <a:p>
            <a:pPr>
              <a:lnSpc>
                <a:spcPct val="150000"/>
              </a:lnSpc>
            </a:pPr>
            <a:r>
              <a:rPr lang="en-GB" dirty="0"/>
              <a:t>in 2011 ¾ of people viewed immigration as a “big problem</a:t>
            </a:r>
            <a:r>
              <a:rPr lang="en-GB" dirty="0" smtClean="0"/>
              <a:t>”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659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Attitudes to </a:t>
            </a:r>
            <a:r>
              <a:rPr lang="en-GB" dirty="0" smtClean="0"/>
              <a:t>immigration II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The main reasons people view immigration in a negative manner is the perceived burden on public services, and pressure on jobs and employment </a:t>
            </a:r>
            <a:endParaRPr lang="en-GB" dirty="0" smtClean="0"/>
          </a:p>
          <a:p>
            <a:pPr>
              <a:lnSpc>
                <a:spcPct val="150000"/>
              </a:lnSpc>
            </a:pPr>
            <a:r>
              <a:rPr lang="en-GB" dirty="0"/>
              <a:t>As the economic </a:t>
            </a:r>
            <a:r>
              <a:rPr lang="en-GB" dirty="0" smtClean="0"/>
              <a:t>downturn has </a:t>
            </a:r>
            <a:r>
              <a:rPr lang="en-GB" dirty="0"/>
              <a:t>evolved these attitudes have been </a:t>
            </a:r>
            <a:r>
              <a:rPr lang="en-GB" dirty="0" smtClean="0"/>
              <a:t>exacerbated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Negative attitudes increase with age and attitudes among the older generations have remained relatively </a:t>
            </a:r>
            <a:r>
              <a:rPr lang="en-GB" dirty="0" smtClean="0"/>
              <a:t>stable</a:t>
            </a:r>
          </a:p>
        </p:txBody>
      </p:sp>
    </p:spTree>
    <p:extLst>
      <p:ext uri="{BB962C8B-B14F-4D97-AF65-F5344CB8AC3E}">
        <p14:creationId xmlns:p14="http://schemas.microsoft.com/office/powerpoint/2010/main" val="286642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10736" cy="1143000"/>
          </a:xfrm>
        </p:spPr>
        <p:txBody>
          <a:bodyPr/>
          <a:lstStyle/>
          <a:p>
            <a:r>
              <a:rPr lang="en-GB" dirty="0" smtClean="0"/>
              <a:t>Attitudes to immigration III: the media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06104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Many attitudes on immigration are formed on misconceptions. </a:t>
            </a:r>
            <a:endParaRPr lang="en-GB" dirty="0" smtClean="0"/>
          </a:p>
          <a:p>
            <a:pPr>
              <a:lnSpc>
                <a:spcPct val="150000"/>
              </a:lnSpc>
            </a:pPr>
            <a:r>
              <a:rPr lang="en-GB" dirty="0" smtClean="0"/>
              <a:t>In </a:t>
            </a:r>
            <a:r>
              <a:rPr lang="en-GB" dirty="0"/>
              <a:t>2011 for example almost 60% of people incorrectly thought that Britain had a higher proportion of both immigrants and asylum seekers than other countries in Europe. </a:t>
            </a:r>
            <a:endParaRPr lang="en-GB" dirty="0" smtClean="0"/>
          </a:p>
          <a:p>
            <a:pPr>
              <a:lnSpc>
                <a:spcPct val="150000"/>
              </a:lnSpc>
            </a:pPr>
            <a:r>
              <a:rPr lang="en-GB" dirty="0" smtClean="0"/>
              <a:t>These </a:t>
            </a:r>
            <a:r>
              <a:rPr lang="en-GB" dirty="0"/>
              <a:t>misconceptions and general attitudes are borne out of (often hostile) media exposure rather than personal </a:t>
            </a:r>
            <a:r>
              <a:rPr lang="en-GB" dirty="0" smtClean="0"/>
              <a:t>experience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69</a:t>
            </a:r>
            <a:r>
              <a:rPr lang="en-GB" dirty="0"/>
              <a:t>% of people listed TV as a main source of information on immigration and asylum, 44% said newspapers and only 16% said personal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1560" y="6381328"/>
            <a:ext cx="79563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 smtClean="0"/>
              <a:t>Source: http</a:t>
            </a:r>
            <a:r>
              <a:rPr lang="en-GB" sz="1000" dirty="0"/>
              <a:t>://www.3s4.org.uk/drivers/attitudes-towards-immigrants</a:t>
            </a:r>
          </a:p>
        </p:txBody>
      </p:sp>
    </p:spTree>
    <p:extLst>
      <p:ext uri="{BB962C8B-B14F-4D97-AF65-F5344CB8AC3E}">
        <p14:creationId xmlns:p14="http://schemas.microsoft.com/office/powerpoint/2010/main" val="149462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 think….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 smtClean="0"/>
              <a:t>The local’s perspective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The immigrant’s side (culture shock, acculturation)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The </a:t>
            </a:r>
            <a:r>
              <a:rPr lang="en-GB" dirty="0"/>
              <a:t>role of the media in promoting attitudes towards immigration</a:t>
            </a:r>
          </a:p>
          <a:p>
            <a:pPr>
              <a:lnSpc>
                <a:spcPct val="150000"/>
              </a:lnSpc>
            </a:pPr>
            <a:r>
              <a:rPr lang="en-GB" dirty="0"/>
              <a:t>Barriers to ICC from both sides 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928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260</TotalTime>
  <Words>1190</Words>
  <Application>Microsoft Office PowerPoint</Application>
  <PresentationFormat>On-screen Show (4:3)</PresentationFormat>
  <Paragraphs>113</Paragraphs>
  <Slides>27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Oriel</vt:lpstr>
      <vt:lpstr>Intercultural Communication</vt:lpstr>
      <vt:lpstr>Immigration and Acculturation</vt:lpstr>
      <vt:lpstr>Immigration is a test ICC skills</vt:lpstr>
      <vt:lpstr>Third culture</vt:lpstr>
      <vt:lpstr>Third culture II</vt:lpstr>
      <vt:lpstr>Citizenship acquisition</vt:lpstr>
      <vt:lpstr>Worldwide migration</vt:lpstr>
      <vt:lpstr>Worldwide migration II</vt:lpstr>
      <vt:lpstr>Worldwide migration III</vt:lpstr>
      <vt:lpstr>Migration within countries: China</vt:lpstr>
      <vt:lpstr>PowerPoint Presentation</vt:lpstr>
      <vt:lpstr>International migration</vt:lpstr>
      <vt:lpstr>Worldwide migration </vt:lpstr>
      <vt:lpstr>Migration in the UK (1922 British Nationality Law)</vt:lpstr>
      <vt:lpstr>Migration in the UK</vt:lpstr>
      <vt:lpstr>Multiculturalism in the UK</vt:lpstr>
      <vt:lpstr>Culture shock</vt:lpstr>
      <vt:lpstr>Culture shock: testimonials </vt:lpstr>
      <vt:lpstr>Five stages of culture shock (Adler &amp; Pedersen, 1975; 1995)</vt:lpstr>
      <vt:lpstr>reverse culture shock </vt:lpstr>
      <vt:lpstr>Acculturation</vt:lpstr>
      <vt:lpstr>Predictors of acculturation (Yun Kim,1986)</vt:lpstr>
      <vt:lpstr>Processes in Acculturation</vt:lpstr>
      <vt:lpstr>Attitudes to immigration in Britain</vt:lpstr>
      <vt:lpstr>Attitudes to immigration II</vt:lpstr>
      <vt:lpstr>Attitudes to immigration III: the media</vt:lpstr>
      <vt:lpstr>To think….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Intercultural Communication</dc:title>
  <dc:creator>Richard Stangroom</dc:creator>
  <cp:lastModifiedBy>MMU User</cp:lastModifiedBy>
  <cp:revision>26</cp:revision>
  <dcterms:created xsi:type="dcterms:W3CDTF">2012-10-20T12:57:43Z</dcterms:created>
  <dcterms:modified xsi:type="dcterms:W3CDTF">2012-10-22T08:37:56Z</dcterms:modified>
</cp:coreProperties>
</file>