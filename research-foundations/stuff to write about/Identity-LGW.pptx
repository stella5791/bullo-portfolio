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6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7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8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9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10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11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1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13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14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6" r:id="rId1"/>
    <p:sldMasterId id="2147484246" r:id="rId2"/>
    <p:sldMasterId id="2147484250" r:id="rId3"/>
    <p:sldMasterId id="2147484254" r:id="rId4"/>
    <p:sldMasterId id="2147484260" r:id="rId5"/>
    <p:sldMasterId id="2147484270" r:id="rId6"/>
    <p:sldMasterId id="2147484274" r:id="rId7"/>
    <p:sldMasterId id="2147484278" r:id="rId8"/>
    <p:sldMasterId id="2147484288" r:id="rId9"/>
    <p:sldMasterId id="2147484298" r:id="rId10"/>
    <p:sldMasterId id="2147484302" r:id="rId11"/>
    <p:sldMasterId id="2147484306" r:id="rId12"/>
    <p:sldMasterId id="2147484312" r:id="rId13"/>
    <p:sldMasterId id="2147484322" r:id="rId14"/>
    <p:sldMasterId id="2147484326" r:id="rId15"/>
    <p:sldMasterId id="2147484330" r:id="rId16"/>
  </p:sldMasterIdLst>
  <p:notesMasterIdLst>
    <p:notesMasterId r:id="rId47"/>
  </p:notesMasterIdLst>
  <p:sldIdLst>
    <p:sldId id="320" r:id="rId17"/>
    <p:sldId id="324" r:id="rId18"/>
    <p:sldId id="325" r:id="rId19"/>
    <p:sldId id="326" r:id="rId20"/>
    <p:sldId id="290" r:id="rId21"/>
    <p:sldId id="259" r:id="rId22"/>
    <p:sldId id="260" r:id="rId23"/>
    <p:sldId id="261" r:id="rId24"/>
    <p:sldId id="321" r:id="rId25"/>
    <p:sldId id="263" r:id="rId26"/>
    <p:sldId id="264" r:id="rId27"/>
    <p:sldId id="265" r:id="rId28"/>
    <p:sldId id="291" r:id="rId29"/>
    <p:sldId id="266" r:id="rId30"/>
    <p:sldId id="267" r:id="rId31"/>
    <p:sldId id="329" r:id="rId32"/>
    <p:sldId id="273" r:id="rId33"/>
    <p:sldId id="289" r:id="rId34"/>
    <p:sldId id="331" r:id="rId35"/>
    <p:sldId id="332" r:id="rId36"/>
    <p:sldId id="334" r:id="rId37"/>
    <p:sldId id="316" r:id="rId38"/>
    <p:sldId id="323" r:id="rId39"/>
    <p:sldId id="335" r:id="rId40"/>
    <p:sldId id="297" r:id="rId41"/>
    <p:sldId id="336" r:id="rId42"/>
    <p:sldId id="337" r:id="rId43"/>
    <p:sldId id="338" r:id="rId44"/>
    <p:sldId id="339" r:id="rId45"/>
    <p:sldId id="30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42" autoAdjust="0"/>
    <p:restoredTop sz="94213" autoAdjust="0"/>
  </p:normalViewPr>
  <p:slideViewPr>
    <p:cSldViewPr>
      <p:cViewPr>
        <p:scale>
          <a:sx n="76" d="100"/>
          <a:sy n="76" d="100"/>
        </p:scale>
        <p:origin x="-1968" y="-4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8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slide" Target="slides/slide30.xml"/><Relationship Id="rId47" Type="http://schemas.openxmlformats.org/officeDocument/2006/relationships/notesMaster" Target="notesMasters/notesMaster1.xml"/><Relationship Id="rId48" Type="http://schemas.openxmlformats.org/officeDocument/2006/relationships/printerSettings" Target="printerSettings/printerSettings1.bin"/><Relationship Id="rId49" Type="http://schemas.openxmlformats.org/officeDocument/2006/relationships/presProps" Target="presProps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9" Type="http://schemas.openxmlformats.org/officeDocument/2006/relationships/slideMaster" Target="slideMasters/slideMaster9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305E9-59B2-4F36-80E4-438DC4CBD517}" type="datetimeFigureOut">
              <a:rPr lang="en-US" smtClean="0"/>
              <a:pPr/>
              <a:t>13/03/19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17E8D-3969-4ED5-9226-EF81EE220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5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Pavlenko</a:t>
            </a:r>
            <a:r>
              <a:rPr lang="en-US" dirty="0" smtClean="0"/>
              <a:t>, A. and </a:t>
            </a:r>
            <a:r>
              <a:rPr lang="en-US" dirty="0" err="1" smtClean="0"/>
              <a:t>Lantolf</a:t>
            </a:r>
            <a:r>
              <a:rPr lang="en-US" dirty="0" smtClean="0"/>
              <a:t>, J (2000). Second</a:t>
            </a:r>
            <a:r>
              <a:rPr lang="en-US" baseline="0" dirty="0" smtClean="0"/>
              <a:t> language learning as participation and the reconstruction of selves. In J. </a:t>
            </a:r>
            <a:r>
              <a:rPr lang="en-US" baseline="0" dirty="0" err="1" smtClean="0"/>
              <a:t>Lantolf</a:t>
            </a:r>
            <a:r>
              <a:rPr lang="en-US" baseline="0" dirty="0" smtClean="0"/>
              <a:t> (Ed.) Sociocultural theory and second language learning. Oxford: Oxford University Press, pp. 155-178.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117E8D-3969-4ED5-9226-EF81EE220D2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3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Ask them to discuss this</a:t>
            </a:r>
            <a:r>
              <a:rPr lang="en-GB" baseline="0" dirty="0" smtClean="0"/>
              <a:t> before going through the following slides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117E8D-3969-4ED5-9226-EF81EE220D2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16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117E8D-3969-4ED5-9226-EF81EE220D2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1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117E8D-3969-4ED5-9226-EF81EE220D2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92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Go back to slide 12 and try to categorise all the types</a:t>
            </a:r>
            <a:r>
              <a:rPr lang="en-GB" baseline="0" dirty="0" smtClean="0"/>
              <a:t> of identity </a:t>
            </a:r>
            <a:r>
              <a:rPr lang="en-GB" baseline="0" smtClean="0"/>
              <a:t>within these frameworks 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117E8D-3969-4ED5-9226-EF81EE220D2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54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Pavlenko</a:t>
            </a:r>
            <a:r>
              <a:rPr lang="en-US" dirty="0" smtClean="0"/>
              <a:t>, A. and </a:t>
            </a:r>
            <a:r>
              <a:rPr lang="en-US" dirty="0" err="1" smtClean="0"/>
              <a:t>Lantolf</a:t>
            </a:r>
            <a:r>
              <a:rPr lang="en-US" dirty="0" smtClean="0"/>
              <a:t>, J (2000). Second</a:t>
            </a:r>
            <a:r>
              <a:rPr lang="en-US" baseline="0" dirty="0" smtClean="0"/>
              <a:t> language learning as participation and the reconstruction of selves. In J. </a:t>
            </a:r>
            <a:r>
              <a:rPr lang="en-US" baseline="0" dirty="0" err="1" smtClean="0"/>
              <a:t>Lantolf</a:t>
            </a:r>
            <a:r>
              <a:rPr lang="en-US" baseline="0" dirty="0" smtClean="0"/>
              <a:t> (Ed.) Sociocultural theory and second language learning. Oxford: Oxford University Press, pp. 155-178.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117E8D-3969-4ED5-9226-EF81EE220D2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0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3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solidFill>
                  <a:srgbClr val="00B9B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87340" y="2018610"/>
            <a:ext cx="6858000" cy="467143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366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3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87340" y="2018610"/>
            <a:ext cx="6858000" cy="467143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693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3342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tex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2620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290163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C9077A-C8BF-4B3C-9554-6B56B3ACA50D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2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1C21D66-EACB-44E3-8851-98ED07EF8B4E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641AA7-C0D4-44F2-9623-4142F616C403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FC6950-F77A-4968-B781-F1AC75CD0C0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287338" y="2035918"/>
            <a:ext cx="6858000" cy="448668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6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539AE-EABC-2D40-99B5-C09557E9CAB7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D7B65-6A48-1143-9A97-BDCA22E269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0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B6343-8D92-074D-8D9A-C9B3BAEA086D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79A87-E6D2-5A4F-A0C2-C779116A4E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6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1787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FC6950-F77A-4968-B781-F1AC75CD0C0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641AA7-C0D4-44F2-9623-4142F616C403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C9077A-C8BF-4B3C-9554-6B56B3ACA50D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23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1C21D66-EACB-44E3-8851-98ED07EF8B4E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87338" y="2035919"/>
            <a:ext cx="6858000" cy="448668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7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rgbClr val="00B9B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F228E-54B2-EB42-A6EC-92FE52A76672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517A9-3549-5A46-B790-4E51D16F2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483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22ED9-DCC9-774F-827F-956335BFDDAC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F8552-A5B0-714D-825D-D9D8C7E80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19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92725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87338" y="1996269"/>
            <a:ext cx="6858000" cy="488329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8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FD19A-80CA-DC44-8006-0BC77FFEEE32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C9081-08E6-324B-A289-7231D70D56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50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8A4A-9628-414B-BE82-AD1E5608364E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10245-8F60-5C46-8284-352B158476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20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16362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855AB-7428-084D-8C89-C7EC51CD271D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785AC-9941-7C4A-936E-4BFD09DB76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030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B54939-CA62-2344-A9D1-1596C97591E0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D94C9-7817-EE4F-AF11-54A6A354E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454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2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solidFill>
                  <a:srgbClr val="00B9B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87340" y="2018610"/>
            <a:ext cx="6858000" cy="467143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3661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2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87340" y="2018610"/>
            <a:ext cx="6858000" cy="467143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69307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49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33428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tex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49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26202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2901637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C9077A-C8BF-4B3C-9554-6B56B3ACA50D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234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1C21D66-EACB-44E3-8851-98ED07EF8B4E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5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287338" y="2035918"/>
            <a:ext cx="6858000" cy="448668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4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539AE-EABC-2D40-99B5-C09557E9CAB7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D7B65-6A48-1143-9A97-BDCA22E269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003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B6343-8D92-074D-8D9A-C9B3BAEA086D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79A87-E6D2-5A4F-A0C2-C779116A4E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636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17878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87338" y="2035919"/>
            <a:ext cx="6858000" cy="448668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6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rgbClr val="00B9B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F228E-54B2-EB42-A6EC-92FE52A76672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517A9-3549-5A46-B790-4E51D16F2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483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22ED9-DCC9-774F-827F-956335BFDDAC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F8552-A5B0-714D-825D-D9D8C7E80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197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927253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87338" y="1996268"/>
            <a:ext cx="6858000" cy="488329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7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FD19A-80CA-DC44-8006-0BC77FFEEE32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C9081-08E6-324B-A289-7231D70D56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504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8A4A-9628-414B-BE82-AD1E5608364E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10245-8F60-5C46-8284-352B158476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207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16362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855AB-7428-084D-8C89-C7EC51CD271D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785AC-9941-7C4A-936E-4BFD09DB76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030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B54939-CA62-2344-A9D1-1596C97591E0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D94C9-7817-EE4F-AF11-54A6A354E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454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47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48" y="3087390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solidFill>
                  <a:srgbClr val="00B9B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87340" y="2018610"/>
            <a:ext cx="6858000" cy="467143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6E69-56B5-9049-B889-452BE95753C1}" type="datetimeFigureOut">
              <a:rPr lang="en-US" smtClean="0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F99-A050-4F49-825F-2942DD70A8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36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47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48" y="3087390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87340" y="2018610"/>
            <a:ext cx="6858000" cy="467143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6E69-56B5-9049-B889-452BE95753C1}" type="datetimeFigureOut">
              <a:rPr lang="en-US" smtClean="0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F99-A050-4F49-825F-2942DD70A8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693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45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6E69-56B5-9049-B889-452BE95753C1}" type="datetimeFigureOut">
              <a:rPr lang="en-US" smtClean="0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F99-A050-4F49-825F-2942DD70A8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334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tex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45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6E69-56B5-9049-B889-452BE95753C1}" type="datetimeFigureOut">
              <a:rPr lang="en-US" smtClean="0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F99-A050-4F49-825F-2942DD70A8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262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29016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C9077A-C8BF-4B3C-9554-6B56B3ACA50D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234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1C21D66-EACB-44E3-8851-98ED07EF8B4E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5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FC6950-F77A-4968-B781-F1AC75CD0C0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641AA7-C0D4-44F2-9623-4142F616C403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287338" y="2035918"/>
            <a:ext cx="6858000" cy="448668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2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539AE-EABC-2D40-99B5-C09557E9CAB7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D7B65-6A48-1143-9A97-BDCA22E269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003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49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B6343-8D92-074D-8D9A-C9B3BAEA086D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79A87-E6D2-5A4F-A0C2-C779116A4E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636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17878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87338" y="2035919"/>
            <a:ext cx="6858000" cy="448668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3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rgbClr val="00B9B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F228E-54B2-EB42-A6EC-92FE52A76672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517A9-3549-5A46-B790-4E51D16F2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483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22ED9-DCC9-774F-827F-956335BFDDAC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F8552-A5B0-714D-825D-D9D8C7E80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197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927253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87338" y="1996266"/>
            <a:ext cx="6858000" cy="488329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4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87350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FD19A-80CA-DC44-8006-0BC77FFEEE32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C9081-08E6-324B-A289-7231D70D56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504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50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8A4A-9628-414B-BE82-AD1E5608364E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10245-8F60-5C46-8284-352B158476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207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16362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855AB-7428-084D-8C89-C7EC51CD271D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785AC-9941-7C4A-936E-4BFD09DB76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030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B54939-CA62-2344-A9D1-1596C97591E0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D94C9-7817-EE4F-AF11-54A6A354E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454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41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42" y="3087386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solidFill>
                  <a:srgbClr val="00B9B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87340" y="2018608"/>
            <a:ext cx="6858000" cy="467143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6E69-56B5-9049-B889-452BE95753C1}" type="datetimeFigureOut">
              <a:rPr lang="en-US" smtClean="0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F99-A050-4F49-825F-2942DD70A8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36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41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42" y="3087386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287340" y="2018608"/>
            <a:ext cx="6858000" cy="467143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6E69-56B5-9049-B889-452BE95753C1}" type="datetimeFigureOut">
              <a:rPr lang="en-US" smtClean="0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F99-A050-4F49-825F-2942DD70A8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6930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39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6E69-56B5-9049-B889-452BE95753C1}" type="datetimeFigureOut">
              <a:rPr lang="en-US" smtClean="0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F99-A050-4F49-825F-2942DD70A8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334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White tex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39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86E69-56B5-9049-B889-452BE95753C1}" type="datetimeFigureOut">
              <a:rPr lang="en-US" smtClean="0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F99-A050-4F49-825F-2942DD70A8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262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29016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BC9077A-C8BF-4B3C-9554-6B56B3ACA50D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2348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GB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GB" smtClean="0"/>
              <a:t>Click to edit Master text styles</a:t>
            </a:r>
          </a:p>
          <a:p>
            <a:pPr lvl="1" eaLnBrk="1" latinLnBrk="0" hangingPunct="1"/>
            <a:r>
              <a:rPr lang="en-GB" smtClean="0"/>
              <a:t>Second level</a:t>
            </a:r>
          </a:p>
          <a:p>
            <a:pPr lvl="2" eaLnBrk="1" latinLnBrk="0" hangingPunct="1"/>
            <a:r>
              <a:rPr lang="en-GB" smtClean="0"/>
              <a:t>Third level</a:t>
            </a:r>
          </a:p>
          <a:p>
            <a:pPr lvl="3" eaLnBrk="1" latinLnBrk="0" hangingPunct="1"/>
            <a:r>
              <a:rPr lang="en-GB" smtClean="0"/>
              <a:t>Fourth level</a:t>
            </a:r>
          </a:p>
          <a:p>
            <a:pPr lvl="4" eaLnBrk="1" latinLnBrk="0" hangingPunct="1"/>
            <a:r>
              <a:rPr lang="en-GB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1C21D66-EACB-44E3-8851-98ED07EF8B4E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52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641AA7-C0D4-44F2-9623-4142F616C403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FC6950-F77A-4968-B781-F1AC75CD0C0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287338" y="2035918"/>
            <a:ext cx="6858000" cy="448668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287345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46" y="3087388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539AE-EABC-2D40-99B5-C09557E9CAB7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D7B65-6A48-1143-9A97-BDCA22E269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003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43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B6343-8D92-074D-8D9A-C9B3BAEA086D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79A87-E6D2-5A4F-A0C2-C779116A4E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636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17878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87338" y="2035919"/>
            <a:ext cx="6858000" cy="448668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48" y="3087390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rgbClr val="00B9BD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87347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F228E-54B2-EB42-A6EC-92FE52A76672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517A9-3549-5A46-B790-4E51D16F2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4835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45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22ED9-DCC9-774F-827F-956335BFDDAC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F8552-A5B0-714D-825D-D9D8C7E80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1973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9272533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87338" y="1996262"/>
            <a:ext cx="6858000" cy="488329"/>
          </a:xfrm>
        </p:spPr>
        <p:txBody>
          <a:bodyPr anchor="b">
            <a:noAutofit/>
          </a:bodyPr>
          <a:lstStyle>
            <a:lvl1pPr algn="l">
              <a:defRPr sz="24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7350" y="3087391"/>
            <a:ext cx="8569325" cy="746125"/>
          </a:xfrm>
          <a:noFill/>
        </p:spPr>
        <p:txBody>
          <a:bodyPr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87349" y="2459647"/>
            <a:ext cx="8569325" cy="565390"/>
          </a:xfrm>
        </p:spPr>
        <p:txBody>
          <a:bodyPr>
            <a:noAutofit/>
          </a:bodyPr>
          <a:lstStyle>
            <a:lvl1pPr marL="0" indent="0" algn="l">
              <a:buNone/>
              <a:defRPr sz="4800" b="1" i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FD19A-80CA-DC44-8006-0BC77FFEEE32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C9081-08E6-324B-A289-7231D70D56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5049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1651001"/>
            <a:ext cx="7886700" cy="50057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87347" y="2151571"/>
            <a:ext cx="8569325" cy="3705226"/>
          </a:xfrm>
        </p:spPr>
        <p:txBody>
          <a:bodyPr/>
          <a:lstStyle>
            <a:lvl1pPr>
              <a:lnSpc>
                <a:spcPts val="2600"/>
              </a:lnSpc>
              <a:defRPr b="0" i="0">
                <a:latin typeface="Calibri" charset="0"/>
                <a:ea typeface="Calibri" charset="0"/>
                <a:cs typeface="Calibri" charset="0"/>
              </a:defRPr>
            </a:lvl1pPr>
            <a:lvl2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2pPr>
            <a:lvl3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3pPr>
            <a:lvl4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4pPr>
            <a:lvl5pPr>
              <a:lnSpc>
                <a:spcPts val="2600"/>
              </a:lnSpc>
              <a:spcBef>
                <a:spcPts val="0"/>
              </a:spcBef>
              <a:defRPr b="0" i="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78A4A-9628-414B-BE82-AD1E5608364E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10245-8F60-5C46-8284-352B158476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2079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te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lvl="0"/>
            <a:r>
              <a:rPr lang="en-GB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163629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855AB-7428-084D-8C89-C7EC51CD271D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785AC-9941-7C4A-936E-4BFD09DB76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0304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B54939-CA62-2344-A9D1-1596C97591E0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D94C9-7817-EE4F-AF11-54A6A354E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4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theme" Target="../theme/theme2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4" Type="http://schemas.openxmlformats.org/officeDocument/2006/relationships/theme" Target="../theme/theme3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theme" Target="../theme/theme5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4" Type="http://schemas.openxmlformats.org/officeDocument/2006/relationships/theme" Target="../theme/theme6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4" Type="http://schemas.openxmlformats.org/officeDocument/2006/relationships/theme" Target="../theme/theme7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theme" Target="../theme/theme8.xml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/Relationships>
</file>

<file path=ppt/slideMasters/_rels/slideMaster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4" Type="http://schemas.openxmlformats.org/officeDocument/2006/relationships/theme" Target="../theme/theme10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4" Type="http://schemas.openxmlformats.org/officeDocument/2006/relationships/theme" Target="../theme/theme11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theme" Target="../theme/theme12.xml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1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9.xml"/></Relationships>
</file>

<file path=ppt/slideMasters/_rels/slideMaster1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1.xml"/><Relationship Id="rId10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4.xml"/><Relationship Id="rId4" Type="http://schemas.openxmlformats.org/officeDocument/2006/relationships/theme" Target="../theme/theme14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4" Type="http://schemas.openxmlformats.org/officeDocument/2006/relationships/theme" Target="../theme/theme15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theme" Target="../theme/theme16.xml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ts val="26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BF86E69-56B5-9049-B889-452BE95753C1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CCEF99-A050-4F49-825F-2942DD70A8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151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7" r:id="rId1"/>
    <p:sldLayoutId id="2147484248" r:id="rId2"/>
    <p:sldLayoutId id="2147484249" r:id="rId3"/>
    <p:sldLayoutId id="2147484284" r:id="rId4"/>
    <p:sldLayoutId id="2147484285" r:id="rId5"/>
    <p:sldLayoutId id="2147484286" r:id="rId6"/>
    <p:sldLayoutId id="2147484287" r:id="rId7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9A580D-F1F4-C549-9439-072996E6287F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33011C0-DAB5-784B-8391-6F6FE601B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223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252" r:id="rId2"/>
    <p:sldLayoutId id="2147484253" r:id="rId3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22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9A0CE37-EAC2-EC4B-A68F-1E6BFC11EEF3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02DAF70-B8AF-D644-92E9-C167250F0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295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ts val="26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BF86E69-56B5-9049-B889-452BE95753C1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CCEF99-A050-4F49-825F-2942DD70A8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151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1" r:id="rId1"/>
    <p:sldLayoutId id="2147484272" r:id="rId2"/>
    <p:sldLayoutId id="2147484273" r:id="rId3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9A580D-F1F4-C549-9439-072996E6287F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33011C0-DAB5-784B-8391-6F6FE601B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223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5" r:id="rId1"/>
    <p:sldLayoutId id="2147484276" r:id="rId2"/>
    <p:sldLayoutId id="2147484277" r:id="rId3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22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9A0CE37-EAC2-EC4B-A68F-1E6BFC11EEF3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02DAF70-B8AF-D644-92E9-C167250F0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295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9" r:id="rId1"/>
    <p:sldLayoutId id="2147484280" r:id="rId2"/>
    <p:sldLayoutId id="2147484281" r:id="rId3"/>
    <p:sldLayoutId id="2147484282" r:id="rId4"/>
    <p:sldLayoutId id="2147484283" r:id="rId5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89" r:id="rId1"/>
    <p:sldLayoutId id="2147484290" r:id="rId2"/>
    <p:sldLayoutId id="2147484291" r:id="rId3"/>
    <p:sldLayoutId id="2147484292" r:id="rId4"/>
    <p:sldLayoutId id="2147484293" r:id="rId5"/>
    <p:sldLayoutId id="2147484294" r:id="rId6"/>
    <p:sldLayoutId id="2147484295" r:id="rId7"/>
    <p:sldLayoutId id="2147484296" r:id="rId8"/>
    <p:sldLayoutId id="2147484297" r:id="rId9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ts val="26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BF86E69-56B5-9049-B889-452BE95753C1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CCEF99-A050-4F49-825F-2942DD70A8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151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9" r:id="rId1"/>
    <p:sldLayoutId id="2147484300" r:id="rId2"/>
    <p:sldLayoutId id="2147484301" r:id="rId3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9A580D-F1F4-C549-9439-072996E6287F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33011C0-DAB5-784B-8391-6F6FE601B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223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03" r:id="rId1"/>
    <p:sldLayoutId id="2147484304" r:id="rId2"/>
    <p:sldLayoutId id="2147484305" r:id="rId3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22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9A0CE37-EAC2-EC4B-A68F-1E6BFC11EEF3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02DAF70-B8AF-D644-92E9-C167250F0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295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07" r:id="rId1"/>
    <p:sldLayoutId id="2147484308" r:id="rId2"/>
    <p:sldLayoutId id="2147484309" r:id="rId3"/>
    <p:sldLayoutId id="2147484310" r:id="rId4"/>
    <p:sldLayoutId id="2147484311" r:id="rId5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D4AE798E-FB5C-4164-BAC2-1D1BB18F3C74}" type="datetime1">
              <a:rPr lang="en-US" smtClean="0"/>
              <a:pPr/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 smtClean="0"/>
              <a:t>© Jane Jackson - Introducing Language and Intercultural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B85A685-13BA-4B5C-9398-9F8F28F6665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314" r:id="rId2"/>
    <p:sldLayoutId id="2147484315" r:id="rId3"/>
    <p:sldLayoutId id="2147484316" r:id="rId4"/>
    <p:sldLayoutId id="2147484317" r:id="rId5"/>
    <p:sldLayoutId id="2147484318" r:id="rId6"/>
    <p:sldLayoutId id="2147484319" r:id="rId7"/>
    <p:sldLayoutId id="2147484320" r:id="rId8"/>
    <p:sldLayoutId id="2147484321" r:id="rId9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ts val="26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BF86E69-56B5-9049-B889-452BE95753C1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CCEF99-A050-4F49-825F-2942DD70A8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151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3" r:id="rId1"/>
    <p:sldLayoutId id="2147484324" r:id="rId2"/>
    <p:sldLayoutId id="2147484325" r:id="rId3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9A580D-F1F4-C549-9439-072996E6287F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33011C0-DAB5-784B-8391-6F6FE601B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223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7" r:id="rId1"/>
    <p:sldLayoutId id="2147484328" r:id="rId2"/>
    <p:sldLayoutId id="2147484329" r:id="rId3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Placeholder 1"/>
          <p:cNvSpPr>
            <a:spLocks noGrp="1"/>
          </p:cNvSpPr>
          <p:nvPr>
            <p:ph type="title"/>
          </p:nvPr>
        </p:nvSpPr>
        <p:spPr bwMode="auto">
          <a:xfrm>
            <a:off x="287338" y="824866"/>
            <a:ext cx="7886700" cy="132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22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7338" y="1824990"/>
            <a:ext cx="7886700" cy="435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9A0CE37-EAC2-EC4B-A68F-1E6BFC11EEF3}" type="datetimeFigureOut">
              <a:rPr lang="en-US"/>
              <a:pPr>
                <a:defRPr/>
              </a:pPr>
              <a:t>13/03/19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986"/>
            <a:ext cx="30861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986"/>
            <a:ext cx="2057400" cy="36385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02DAF70-B8AF-D644-92E9-C167250F0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295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257176"/>
            <a:ext cx="2193925" cy="4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211456"/>
            <a:ext cx="831850" cy="113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31" r:id="rId1"/>
    <p:sldLayoutId id="2147484332" r:id="rId2"/>
    <p:sldLayoutId id="2147484333" r:id="rId3"/>
    <p:sldLayoutId id="2147484334" r:id="rId4"/>
    <p:sldLayoutId id="2147484335" r:id="rId5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ＭＳ Ｐゴシック" charset="0"/>
          <a:cs typeface="Calibri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itchFamily="34" charset="0"/>
          <a:ea typeface="Calibri" pitchFamily="34" charset="0"/>
          <a:cs typeface="Calibri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ＭＳ Ｐゴシック" charset="0"/>
          <a:cs typeface="Calibri" charset="0"/>
        </a:defRPr>
      </a:lvl1pPr>
      <a:lvl2pPr marL="6858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2pPr>
      <a:lvl3pPr marL="11430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3pPr>
      <a:lvl4pPr marL="16002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4pPr>
      <a:lvl5pPr marL="2057400" indent="-228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28600" y="2667000"/>
            <a:ext cx="8569325" cy="56539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LGW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4800" y="3429000"/>
            <a:ext cx="8569325" cy="746125"/>
          </a:xfrm>
        </p:spPr>
        <p:txBody>
          <a:bodyPr/>
          <a:lstStyle/>
          <a:p>
            <a:r>
              <a:rPr lang="en-US" dirty="0" smtClean="0"/>
              <a:t>Identity</a:t>
            </a:r>
            <a:r>
              <a:rPr lang="en-US" dirty="0"/>
              <a:t> </a:t>
            </a:r>
            <a:r>
              <a:rPr lang="en-US" dirty="0" smtClean="0"/>
              <a:t>and language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Dr</a:t>
            </a:r>
            <a:r>
              <a:rPr lang="en-US" dirty="0" smtClean="0"/>
              <a:t> Stella Bullo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915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Characteristics of </a:t>
            </a:r>
            <a:r>
              <a:rPr lang="en-US" dirty="0" smtClean="0"/>
              <a:t>identity</a:t>
            </a:r>
          </a:p>
          <a:p>
            <a:r>
              <a:rPr lang="en-US" dirty="0"/>
              <a:t>Types of </a:t>
            </a:r>
            <a:r>
              <a:rPr lang="en-US" dirty="0" smtClean="0"/>
              <a:t>identities</a:t>
            </a:r>
          </a:p>
          <a:p>
            <a:r>
              <a:rPr lang="en-US" dirty="0" smtClean="0"/>
              <a:t>Acts of identity</a:t>
            </a:r>
          </a:p>
          <a:p>
            <a:r>
              <a:rPr lang="en-US" dirty="0" smtClean="0"/>
              <a:t>Analysing identity</a:t>
            </a:r>
          </a:p>
          <a:p>
            <a:r>
              <a:rPr lang="en-US" dirty="0" smtClean="0"/>
              <a:t>Identity and language learning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9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are you?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I am</a:t>
            </a:r>
            <a:r>
              <a:rPr lang="mr-IN" dirty="0" smtClean="0"/>
              <a:t>…</a:t>
            </a:r>
            <a:endParaRPr lang="en-GB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2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819400"/>
            <a:ext cx="7886700" cy="500570"/>
          </a:xfrm>
        </p:spPr>
        <p:txBody>
          <a:bodyPr/>
          <a:lstStyle/>
          <a:p>
            <a:r>
              <a:rPr lang="en-US" dirty="0" smtClean="0"/>
              <a:t>identity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52600" y="58674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References for this section in Jackson (2014), chapter 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0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solidFill>
                  <a:srgbClr val="00ACAF"/>
                </a:solidFill>
              </a:rPr>
              <a:t>Characteristics of identity: discuss (Jackson, 2014)</a:t>
            </a:r>
            <a:endParaRPr lang="en-GB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5000"/>
            <a:ext cx="8552688" cy="449580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US" dirty="0"/>
              <a:t>Identities are formed during the socialization process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Identities </a:t>
            </a:r>
            <a:r>
              <a:rPr lang="en-US" dirty="0"/>
              <a:t>are shaped in diverse ways in different cultural contexts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Identities </a:t>
            </a:r>
            <a:r>
              <a:rPr lang="en-US" dirty="0"/>
              <a:t>are multiple and complex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Identities </a:t>
            </a:r>
            <a:r>
              <a:rPr lang="en-US" dirty="0"/>
              <a:t>are dynamic 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Identities </a:t>
            </a:r>
            <a:r>
              <a:rPr lang="en-US" dirty="0"/>
              <a:t>are both avowed and ascribed 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Identities </a:t>
            </a:r>
            <a:r>
              <a:rPr lang="en-US" dirty="0"/>
              <a:t>are variable in salience and intensity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US" dirty="0" smtClean="0"/>
              <a:t>Identities </a:t>
            </a:r>
            <a:r>
              <a:rPr lang="en-US" dirty="0"/>
              <a:t>are expressed verbally and </a:t>
            </a:r>
            <a:r>
              <a:rPr lang="en-US" dirty="0" smtClean="0"/>
              <a:t>nonverbally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95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44562"/>
            <a:ext cx="8305800" cy="96043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ACAF"/>
                </a:solidFill>
              </a:rPr>
              <a:t>1</a:t>
            </a:r>
            <a:r>
              <a:rPr lang="en-US" sz="3600" b="1" dirty="0" smtClean="0">
                <a:solidFill>
                  <a:srgbClr val="00ACAF"/>
                </a:solidFill>
              </a:rPr>
              <a:t>.</a:t>
            </a:r>
            <a:r>
              <a:rPr lang="en-US" sz="3600" dirty="0" smtClean="0">
                <a:solidFill>
                  <a:srgbClr val="00ACAF"/>
                </a:solidFill>
              </a:rPr>
              <a:t> </a:t>
            </a:r>
            <a:r>
              <a:rPr lang="en-US" sz="3600" b="1" dirty="0" smtClean="0">
                <a:solidFill>
                  <a:srgbClr val="00ACAF"/>
                </a:solidFill>
              </a:rPr>
              <a:t>Identities </a:t>
            </a:r>
            <a:r>
              <a:rPr lang="en-US" sz="3600" b="1" dirty="0">
                <a:solidFill>
                  <a:srgbClr val="00ACAF"/>
                </a:solidFill>
              </a:rPr>
              <a:t>are formed </a:t>
            </a:r>
            <a:r>
              <a:rPr lang="en-US" sz="3600" b="1" dirty="0" smtClean="0">
                <a:solidFill>
                  <a:srgbClr val="00ACAF"/>
                </a:solidFill>
              </a:rPr>
              <a:t>during the socialization process</a:t>
            </a:r>
            <a:endParaRPr lang="en-US" b="1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183880" cy="43434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b="1" dirty="0" smtClean="0"/>
              <a:t>self</a:t>
            </a:r>
            <a:r>
              <a:rPr lang="en-US" b="1" dirty="0"/>
              <a:t>-concept</a:t>
            </a:r>
            <a:r>
              <a:rPr lang="en-US" dirty="0"/>
              <a:t> or </a:t>
            </a:r>
            <a:r>
              <a:rPr lang="en-US" b="1" dirty="0"/>
              <a:t>sense of self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60000"/>
              </a:lnSpc>
            </a:pPr>
            <a:r>
              <a:rPr lang="en-US" dirty="0" smtClean="0"/>
              <a:t>Formed through primary </a:t>
            </a:r>
            <a:r>
              <a:rPr lang="en-US" dirty="0"/>
              <a:t>socialization </a:t>
            </a:r>
            <a:r>
              <a:rPr lang="en-US" dirty="0" smtClean="0"/>
              <a:t>process 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through </a:t>
            </a:r>
            <a:r>
              <a:rPr lang="en-US" dirty="0"/>
              <a:t>observation and social interaction, we acquire the means to identify with or relate to </a:t>
            </a:r>
            <a:r>
              <a:rPr lang="en-US" dirty="0" smtClean="0"/>
              <a:t>the social environment 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/>
              <a:t>a</a:t>
            </a:r>
            <a:r>
              <a:rPr lang="en-US" dirty="0" smtClean="0"/>
              <a:t>s </a:t>
            </a:r>
            <a:r>
              <a:rPr lang="en-US" dirty="0"/>
              <a:t>we establish our own identities, we learn what makes us similar to some people and different from others.</a:t>
            </a:r>
          </a:p>
          <a:p>
            <a:pPr marL="425196" indent="-342900">
              <a:lnSpc>
                <a:spcPct val="16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4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79248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ACAF"/>
                </a:solidFill>
              </a:rPr>
              <a:t>2. Identities </a:t>
            </a:r>
            <a:r>
              <a:rPr lang="en-US" sz="3200" b="1" dirty="0">
                <a:solidFill>
                  <a:srgbClr val="00ACAF"/>
                </a:solidFill>
              </a:rPr>
              <a:t>are shaped in diverse ways </a:t>
            </a:r>
            <a:r>
              <a:rPr lang="en-US" sz="3200" b="1" dirty="0" smtClean="0">
                <a:solidFill>
                  <a:srgbClr val="00ACAF"/>
                </a:solidFill>
              </a:rPr>
              <a:t/>
            </a:r>
            <a:br>
              <a:rPr lang="en-US" sz="3200" b="1" dirty="0" smtClean="0">
                <a:solidFill>
                  <a:srgbClr val="00ACAF"/>
                </a:solidFill>
              </a:rPr>
            </a:br>
            <a:r>
              <a:rPr lang="en-US" sz="3200" b="1" dirty="0" smtClean="0">
                <a:solidFill>
                  <a:srgbClr val="00ACAF"/>
                </a:solidFill>
              </a:rPr>
              <a:t>in </a:t>
            </a:r>
            <a:r>
              <a:rPr lang="en-US" sz="3200" b="1" dirty="0">
                <a:solidFill>
                  <a:srgbClr val="00ACAF"/>
                </a:solidFill>
              </a:rPr>
              <a:t>different cultural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133600"/>
            <a:ext cx="7696200" cy="37338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</a:pPr>
            <a:r>
              <a:rPr lang="en-US" sz="2000" dirty="0" smtClean="0"/>
              <a:t>Individualistic cultures: </a:t>
            </a:r>
            <a:r>
              <a:rPr lang="en-US" sz="2000" b="1" dirty="0" smtClean="0"/>
              <a:t>independent </a:t>
            </a:r>
            <a:r>
              <a:rPr lang="en-US" sz="2000" b="1" dirty="0"/>
              <a:t>self-construal </a:t>
            </a:r>
            <a:r>
              <a:rPr lang="en-US" sz="2000" dirty="0"/>
              <a:t>(a self-perception that emphasizes one’s autonomy and separateness from </a:t>
            </a:r>
            <a:r>
              <a:rPr lang="en-US" sz="2000" dirty="0" smtClean="0"/>
              <a:t>others).</a:t>
            </a:r>
            <a:endParaRPr lang="en-US" sz="2000" dirty="0"/>
          </a:p>
          <a:p>
            <a:pPr marL="514350" indent="-514350">
              <a:lnSpc>
                <a:spcPct val="150000"/>
              </a:lnSpc>
            </a:pPr>
            <a:r>
              <a:rPr lang="en-US" sz="2000" dirty="0" smtClean="0"/>
              <a:t>Collectivistic cultures:  </a:t>
            </a:r>
            <a:r>
              <a:rPr lang="en-US" sz="2000" b="1" dirty="0"/>
              <a:t>interdependent self-construal </a:t>
            </a:r>
            <a:r>
              <a:rPr lang="en-US" sz="2000" dirty="0"/>
              <a:t>is fostered, that is, ‘a self-perception that emphasizes one’s relatedness to others’ (Smith </a:t>
            </a:r>
            <a:r>
              <a:rPr lang="en-US" sz="2000" i="1" dirty="0"/>
              <a:t>et al. </a:t>
            </a:r>
            <a:r>
              <a:rPr lang="en-US" sz="2000" dirty="0"/>
              <a:t>2006: 277</a:t>
            </a:r>
            <a:r>
              <a:rPr lang="en-US" sz="2000" dirty="0" smtClean="0"/>
              <a:t>).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8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ACAF"/>
                </a:solidFill>
              </a:rPr>
              <a:t>3. Identities </a:t>
            </a:r>
            <a:r>
              <a:rPr lang="en-US" sz="3600" b="1" dirty="0">
                <a:solidFill>
                  <a:srgbClr val="00ACAF"/>
                </a:solidFill>
              </a:rPr>
              <a:t>are multiple and complex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38" y="1981200"/>
            <a:ext cx="7886700" cy="4196716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</a:pPr>
            <a:r>
              <a:rPr lang="en-US" sz="2800" dirty="0" smtClean="0"/>
              <a:t>Rather </a:t>
            </a:r>
            <a:r>
              <a:rPr lang="en-US" sz="2800" dirty="0"/>
              <a:t>than a single, fixed identity, people have</a:t>
            </a:r>
            <a:r>
              <a:rPr lang="en-US" sz="2800" b="1" dirty="0"/>
              <a:t> many dimensions to their sense of </a:t>
            </a:r>
            <a:r>
              <a:rPr lang="en-US" sz="2800" b="1" dirty="0" smtClean="0"/>
              <a:t>self, </a:t>
            </a:r>
            <a:r>
              <a:rPr lang="en-US" sz="2800" dirty="0"/>
              <a:t>asserting different aspects of themselves in diverse social and cultural contexts and circumstances.</a:t>
            </a:r>
          </a:p>
          <a:p>
            <a:pPr marL="514350" indent="-514350"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8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ACAF"/>
                </a:solidFill>
              </a:rPr>
              <a:t>4. Identities are dynamic and fluid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2438399"/>
            <a:ext cx="8399474" cy="373380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dirty="0"/>
              <a:t>Certain aspects of one’s identity (e.g., gender, ethnicity, religion) may have different meanings and significance at different stages in one’s life.</a:t>
            </a:r>
          </a:p>
          <a:p>
            <a:pPr lvl="1">
              <a:lnSpc>
                <a:spcPct val="140000"/>
              </a:lnSpc>
              <a:buFont typeface="Wingdings" charset="2"/>
              <a:buChar char="Ø"/>
            </a:pPr>
            <a:r>
              <a:rPr lang="en-US" dirty="0" smtClean="0"/>
              <a:t> ethnicity </a:t>
            </a:r>
            <a:r>
              <a:rPr lang="en-US" dirty="0"/>
              <a:t>and other facets of their identities may only become noticed when experiencing life abroad or as a minority for the first time </a:t>
            </a:r>
            <a:r>
              <a:rPr lang="en-US" dirty="0" smtClean="0"/>
              <a:t>&gt; Stella’s </a:t>
            </a:r>
            <a:r>
              <a:rPr lang="en-US" dirty="0"/>
              <a:t>Catholicism </a:t>
            </a:r>
          </a:p>
          <a:p>
            <a:pPr>
              <a:lnSpc>
                <a:spcPct val="140000"/>
              </a:lnSpc>
            </a:pPr>
            <a:r>
              <a:rPr lang="en-US" dirty="0"/>
              <a:t>A shift in attitudes and perceptions may also bring about the use of different identity labels.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63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ACAF"/>
                </a:solidFill>
              </a:rPr>
              <a:t>5. Identities </a:t>
            </a:r>
            <a:r>
              <a:rPr lang="en-US" sz="3200" b="1" dirty="0">
                <a:solidFill>
                  <a:srgbClr val="00ACAF"/>
                </a:solidFill>
              </a:rPr>
              <a:t>are both avowed and ascribed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620000" cy="38862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b="1" dirty="0" smtClean="0"/>
              <a:t>Avowed </a:t>
            </a:r>
            <a:r>
              <a:rPr lang="en-US" b="1" dirty="0"/>
              <a:t>identity </a:t>
            </a:r>
            <a:r>
              <a:rPr lang="en-US" dirty="0"/>
              <a:t>is the one that we wish to present or claim in an interaction.</a:t>
            </a:r>
          </a:p>
          <a:p>
            <a:pPr marL="457200" indent="-457200">
              <a:lnSpc>
                <a:spcPct val="150000"/>
              </a:lnSpc>
            </a:pPr>
            <a:r>
              <a:rPr lang="en-US" b="1" dirty="0" smtClean="0"/>
              <a:t>Ascribed </a:t>
            </a:r>
            <a:r>
              <a:rPr lang="en-US" b="1" dirty="0"/>
              <a:t>identity </a:t>
            </a:r>
            <a:r>
              <a:rPr lang="en-US" dirty="0"/>
              <a:t>is the one that others give to us (or we give to someone else).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 smtClean="0"/>
              <a:t>Our </a:t>
            </a:r>
            <a:r>
              <a:rPr lang="en-US" dirty="0"/>
              <a:t>preferred identities may not be the ones that are recognized and respected by others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72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153400" cy="10969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ACAF"/>
                </a:solidFill>
              </a:rPr>
              <a:t>6. Identities </a:t>
            </a:r>
            <a:r>
              <a:rPr lang="en-US" sz="3200" b="1" dirty="0">
                <a:solidFill>
                  <a:srgbClr val="00ACAF"/>
                </a:solidFill>
              </a:rPr>
              <a:t>are variable in </a:t>
            </a:r>
            <a:r>
              <a:rPr lang="en-US" sz="3200" b="1" dirty="0" smtClean="0">
                <a:solidFill>
                  <a:srgbClr val="00ACAF"/>
                </a:solidFill>
              </a:rPr>
              <a:t>salience and intensity</a:t>
            </a:r>
            <a:endParaRPr lang="en-US" sz="3200" b="1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924800" cy="4648200"/>
          </a:xfrm>
        </p:spPr>
        <p:txBody>
          <a:bodyPr>
            <a:normAutofit fontScale="55000" lnSpcReduction="20000"/>
          </a:bodyPr>
          <a:lstStyle/>
          <a:p>
            <a:pPr marL="571500" indent="-571500">
              <a:lnSpc>
                <a:spcPct val="170000"/>
              </a:lnSpc>
            </a:pPr>
            <a:r>
              <a:rPr lang="en-US" sz="4000" b="1" dirty="0" smtClean="0"/>
              <a:t>Identity </a:t>
            </a:r>
            <a:r>
              <a:rPr lang="en-US" sz="4000" b="1" dirty="0"/>
              <a:t>salience </a:t>
            </a:r>
            <a:r>
              <a:rPr lang="en-US" sz="4000" dirty="0"/>
              <a:t>is ‘the degree to which </a:t>
            </a:r>
            <a:r>
              <a:rPr lang="en-US" sz="4000" i="1" dirty="0"/>
              <a:t>an</a:t>
            </a:r>
            <a:r>
              <a:rPr lang="en-US" sz="4000" dirty="0"/>
              <a:t> identity </a:t>
            </a:r>
            <a:r>
              <a:rPr lang="en-US" sz="4000" dirty="0" smtClean="0"/>
              <a:t>is prominent </a:t>
            </a:r>
            <a:r>
              <a:rPr lang="en-US" sz="4000" dirty="0"/>
              <a:t>or stands out to us in a given situation’ (</a:t>
            </a:r>
            <a:r>
              <a:rPr lang="en-US" sz="4000" dirty="0" err="1"/>
              <a:t>Oetzel</a:t>
            </a:r>
            <a:r>
              <a:rPr lang="en-US" sz="4000" dirty="0"/>
              <a:t> 2009: 59). </a:t>
            </a:r>
            <a:endParaRPr lang="en-US" sz="4000" dirty="0" smtClean="0"/>
          </a:p>
          <a:p>
            <a:pPr lvl="1">
              <a:lnSpc>
                <a:spcPct val="170000"/>
              </a:lnSpc>
              <a:buFont typeface="Wingdings" charset="2"/>
              <a:buChar char="Ø"/>
            </a:pPr>
            <a:r>
              <a:rPr lang="en-US" sz="4000" dirty="0" smtClean="0"/>
              <a:t> E.g. when </a:t>
            </a:r>
            <a:r>
              <a:rPr lang="en-US" sz="4000" dirty="0"/>
              <a:t>they are contested or </a:t>
            </a:r>
            <a:r>
              <a:rPr lang="en-US" sz="4000" dirty="0" smtClean="0"/>
              <a:t>challenged: religious identity</a:t>
            </a:r>
          </a:p>
          <a:p>
            <a:pPr marL="571500" indent="-571500">
              <a:lnSpc>
                <a:spcPct val="170000"/>
              </a:lnSpc>
            </a:pPr>
            <a:r>
              <a:rPr lang="en-US" sz="4000" b="1" dirty="0" smtClean="0"/>
              <a:t>Identity intensity</a:t>
            </a:r>
            <a:r>
              <a:rPr lang="en-US" sz="4000" dirty="0" smtClean="0"/>
              <a:t>: he </a:t>
            </a:r>
            <a:r>
              <a:rPr lang="en-US" sz="4000" dirty="0"/>
              <a:t>strength of one’s attachment to </a:t>
            </a:r>
            <a:r>
              <a:rPr lang="en-US" sz="4000" i="1" dirty="0"/>
              <a:t>a facet </a:t>
            </a:r>
            <a:r>
              <a:rPr lang="en-US" sz="4000" dirty="0"/>
              <a:t>of one’s identity can vary depending on the </a:t>
            </a:r>
            <a:r>
              <a:rPr lang="en-US" sz="4000" dirty="0" smtClean="0"/>
              <a:t>circumstances</a:t>
            </a:r>
          </a:p>
          <a:p>
            <a:pPr lvl="1">
              <a:lnSpc>
                <a:spcPct val="170000"/>
              </a:lnSpc>
              <a:buFont typeface="Wingdings" charset="2"/>
              <a:buChar char="Ø"/>
            </a:pPr>
            <a:r>
              <a:rPr lang="en-US" sz="4000" dirty="0" smtClean="0"/>
              <a:t> E.g. food</a:t>
            </a:r>
            <a:endParaRPr lang="en-US" sz="4000" dirty="0"/>
          </a:p>
          <a:p>
            <a:pPr>
              <a:lnSpc>
                <a:spcPct val="17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44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162800" cy="10969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ACAF"/>
                </a:solidFill>
              </a:rPr>
              <a:t>7. Identities </a:t>
            </a:r>
            <a:r>
              <a:rPr lang="en-US" sz="3200" b="1" dirty="0">
                <a:solidFill>
                  <a:srgbClr val="00ACAF"/>
                </a:solidFill>
              </a:rPr>
              <a:t>are expressed </a:t>
            </a:r>
            <a:r>
              <a:rPr lang="en-US" sz="3200" b="1" dirty="0" smtClean="0">
                <a:solidFill>
                  <a:srgbClr val="00ACAF"/>
                </a:solidFill>
              </a:rPr>
              <a:t>verbally and nonverbally</a:t>
            </a:r>
            <a:endParaRPr lang="en-US" sz="3200" b="1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28800"/>
            <a:ext cx="8001000" cy="4572000"/>
          </a:xfrm>
        </p:spPr>
        <p:txBody>
          <a:bodyPr>
            <a:normAutofit fontScale="55000" lnSpcReduction="20000"/>
          </a:bodyPr>
          <a:lstStyle/>
          <a:p>
            <a:pPr marL="571500" indent="-571500">
              <a:lnSpc>
                <a:spcPct val="170000"/>
              </a:lnSpc>
            </a:pPr>
            <a:r>
              <a:rPr lang="en-US" sz="4200" dirty="0" smtClean="0"/>
              <a:t>Our </a:t>
            </a:r>
            <a:r>
              <a:rPr lang="en-US" sz="4200" b="1" dirty="0"/>
              <a:t>language and communication styles </a:t>
            </a:r>
            <a:r>
              <a:rPr lang="en-US" sz="4200" dirty="0"/>
              <a:t>can express multiple dimensions of our identity.</a:t>
            </a:r>
            <a:endParaRPr lang="en-US" sz="4200" b="1" dirty="0"/>
          </a:p>
          <a:p>
            <a:pPr marL="571500" indent="-571500">
              <a:lnSpc>
                <a:spcPct val="170000"/>
              </a:lnSpc>
            </a:pPr>
            <a:r>
              <a:rPr lang="en-US" sz="4200" dirty="0"/>
              <a:t>We express ourselves through a variety of NV</a:t>
            </a:r>
            <a:r>
              <a:rPr lang="en-US" sz="4200" b="1" dirty="0"/>
              <a:t> channels </a:t>
            </a:r>
            <a:r>
              <a:rPr lang="en-US" sz="4200" dirty="0"/>
              <a:t>(e.g., our appearance communicates aspects about our identities that we wish to convey to others).</a:t>
            </a:r>
          </a:p>
          <a:p>
            <a:pPr marL="571500" indent="-571500">
              <a:lnSpc>
                <a:spcPct val="170000"/>
              </a:lnSpc>
            </a:pPr>
            <a:r>
              <a:rPr lang="en-US" sz="4200" b="1" dirty="0" smtClean="0"/>
              <a:t>Bilingual </a:t>
            </a:r>
            <a:r>
              <a:rPr lang="en-US" sz="4200" b="1" dirty="0"/>
              <a:t>or multilingual individuals </a:t>
            </a:r>
            <a:r>
              <a:rPr lang="en-US" sz="4200" dirty="0"/>
              <a:t>may </a:t>
            </a:r>
            <a:r>
              <a:rPr lang="en-US" sz="4200" dirty="0" smtClean="0"/>
              <a:t>convey different </a:t>
            </a:r>
            <a:r>
              <a:rPr lang="en-US" sz="4200" dirty="0"/>
              <a:t>dimensions of their identities depending on the language they are using.</a:t>
            </a:r>
          </a:p>
          <a:p>
            <a:pPr marL="514350" indent="-514350">
              <a:lnSpc>
                <a:spcPct val="17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12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7498080" cy="11430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ACAF"/>
                </a:solidFill>
              </a:rPr>
              <a:t>Types of </a:t>
            </a:r>
            <a:r>
              <a:rPr lang="en-US" sz="4400" dirty="0" smtClean="0">
                <a:solidFill>
                  <a:srgbClr val="00ACAF"/>
                </a:solidFill>
              </a:rPr>
              <a:t>identities</a:t>
            </a:r>
            <a:endParaRPr lang="en-GB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905000"/>
            <a:ext cx="3810000" cy="4267200"/>
          </a:xfrm>
        </p:spPr>
        <p:txBody>
          <a:bodyPr>
            <a:normAutofit fontScale="55000" lnSpcReduction="20000"/>
          </a:bodyPr>
          <a:lstStyle/>
          <a:p>
            <a:pPr marL="596646" indent="-514350">
              <a:lnSpc>
                <a:spcPct val="140000"/>
              </a:lnSpc>
              <a:buFont typeface="+mj-lt"/>
              <a:buAutoNum type="arabicPeriod"/>
            </a:pPr>
            <a:r>
              <a:rPr lang="en-US" sz="3600" dirty="0">
                <a:solidFill>
                  <a:srgbClr val="FF0000"/>
                </a:solidFill>
              </a:rPr>
              <a:t>Personal identity</a:t>
            </a:r>
          </a:p>
          <a:p>
            <a:pPr marL="596646" indent="-514350">
              <a:lnSpc>
                <a:spcPct val="140000"/>
              </a:lnSpc>
              <a:buFont typeface="+mj-lt"/>
              <a:buAutoNum type="arabicPeriod"/>
            </a:pPr>
            <a:r>
              <a:rPr lang="en-US" sz="3600" dirty="0">
                <a:solidFill>
                  <a:srgbClr val="FF0000"/>
                </a:solidFill>
              </a:rPr>
              <a:t>Social identity</a:t>
            </a:r>
          </a:p>
          <a:p>
            <a:pPr marL="596646" indent="-514350">
              <a:lnSpc>
                <a:spcPct val="140000"/>
              </a:lnSpc>
              <a:buFont typeface="+mj-lt"/>
              <a:buAutoNum type="arabicPeriod"/>
            </a:pPr>
            <a:r>
              <a:rPr lang="en-US" sz="3600" dirty="0" smtClean="0">
                <a:solidFill>
                  <a:srgbClr val="FF0000"/>
                </a:solidFill>
              </a:rPr>
              <a:t>Cultural identity </a:t>
            </a:r>
          </a:p>
          <a:p>
            <a:pPr marL="596646" indent="-514350">
              <a:lnSpc>
                <a:spcPct val="140000"/>
              </a:lnSpc>
              <a:buFont typeface="+mj-lt"/>
              <a:buAutoNum type="arabicPeriod"/>
            </a:pPr>
            <a:r>
              <a:rPr lang="en-US" sz="3600" dirty="0" smtClean="0">
                <a:solidFill>
                  <a:srgbClr val="FF0000"/>
                </a:solidFill>
              </a:rPr>
              <a:t>Multicultural </a:t>
            </a:r>
            <a:r>
              <a:rPr lang="en-US" sz="3600" dirty="0">
                <a:solidFill>
                  <a:srgbClr val="FF0000"/>
                </a:solidFill>
              </a:rPr>
              <a:t>and multilingual identities</a:t>
            </a:r>
          </a:p>
          <a:p>
            <a:pPr marL="596646" lvl="0" indent="-514350">
              <a:lnSpc>
                <a:spcPct val="140000"/>
              </a:lnSpc>
              <a:buFont typeface="+mj-lt"/>
              <a:buAutoNum type="arabicPeriod"/>
            </a:pPr>
            <a:r>
              <a:rPr lang="en-US" sz="3600" dirty="0" smtClean="0">
                <a:solidFill>
                  <a:srgbClr val="FF0000"/>
                </a:solidFill>
              </a:rPr>
              <a:t>Language identity</a:t>
            </a:r>
            <a:endParaRPr lang="en-GB" sz="3600" dirty="0">
              <a:solidFill>
                <a:srgbClr val="FF0000"/>
              </a:solidFill>
            </a:endParaRPr>
          </a:p>
          <a:p>
            <a:pPr marL="596646" indent="-514350">
              <a:lnSpc>
                <a:spcPct val="140000"/>
              </a:lnSpc>
              <a:buFont typeface="+mj-lt"/>
              <a:buAutoNum type="arabicPeriod"/>
            </a:pPr>
            <a:endParaRPr lang="en-GB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828800"/>
            <a:ext cx="3276600" cy="4358640"/>
          </a:xfrm>
        </p:spPr>
        <p:txBody>
          <a:bodyPr>
            <a:normAutofit fontScale="55000" lnSpcReduction="20000"/>
          </a:bodyPr>
          <a:lstStyle/>
          <a:p>
            <a:pPr marL="82296" lvl="0" indent="0">
              <a:lnSpc>
                <a:spcPct val="120000"/>
              </a:lnSpc>
              <a:buNone/>
            </a:pPr>
            <a:r>
              <a:rPr lang="en-US" dirty="0" smtClean="0"/>
              <a:t>Other types of identity </a:t>
            </a:r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smtClean="0"/>
              <a:t>Age </a:t>
            </a:r>
            <a:r>
              <a:rPr lang="en-US" dirty="0"/>
              <a:t>identity</a:t>
            </a:r>
            <a:endParaRPr lang="en-GB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Class identity</a:t>
            </a:r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Gendered </a:t>
            </a:r>
            <a:r>
              <a:rPr lang="en-US" dirty="0" smtClean="0"/>
              <a:t>identities</a:t>
            </a:r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smtClean="0"/>
              <a:t>Ethnic identity</a:t>
            </a:r>
            <a:endParaRPr lang="en-GB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National identity</a:t>
            </a:r>
            <a:endParaRPr lang="en-GB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Organizational identity</a:t>
            </a:r>
            <a:endParaRPr lang="en-GB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smtClean="0"/>
              <a:t>Professional </a:t>
            </a:r>
            <a:r>
              <a:rPr lang="en-US" dirty="0"/>
              <a:t>identity</a:t>
            </a:r>
            <a:endParaRPr lang="en-GB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smtClean="0"/>
              <a:t>Regional </a:t>
            </a:r>
            <a:r>
              <a:rPr lang="en-US" dirty="0"/>
              <a:t>identity</a:t>
            </a:r>
            <a:endParaRPr lang="en-GB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Religious identity</a:t>
            </a:r>
            <a:endParaRPr lang="en-GB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Sexual identity	</a:t>
            </a:r>
            <a:endParaRPr lang="en-GB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smtClean="0"/>
              <a:t>Virtual </a:t>
            </a:r>
            <a:r>
              <a:rPr lang="en-US" dirty="0"/>
              <a:t>identities</a:t>
            </a:r>
            <a:endParaRPr lang="en-GB" dirty="0"/>
          </a:p>
          <a:p>
            <a:pPr marL="596646" indent="-514350">
              <a:lnSpc>
                <a:spcPct val="120000"/>
              </a:lnSpc>
              <a:buFont typeface="+mj-lt"/>
              <a:buAutoNum type="arabicPeriod"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00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14400"/>
            <a:ext cx="7467600" cy="8382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ACAF"/>
                </a:solidFill>
              </a:rPr>
              <a:t>A. Personal identity</a:t>
            </a:r>
            <a:endParaRPr lang="en-US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</a:pPr>
            <a:r>
              <a:rPr lang="en-US" dirty="0" smtClean="0"/>
              <a:t>Martin </a:t>
            </a:r>
            <a:r>
              <a:rPr lang="en-US" dirty="0"/>
              <a:t>and Nakayama (</a:t>
            </a:r>
            <a:r>
              <a:rPr lang="en-US" dirty="0" smtClean="0"/>
              <a:t>2008: 5) </a:t>
            </a:r>
            <a:r>
              <a:rPr lang="en-US" dirty="0"/>
              <a:t>define </a:t>
            </a:r>
            <a:r>
              <a:rPr lang="en-US" b="1" dirty="0"/>
              <a:t>personal identity </a:t>
            </a:r>
            <a:r>
              <a:rPr lang="en-US" dirty="0"/>
              <a:t>simply as ‘</a:t>
            </a:r>
            <a:r>
              <a:rPr lang="en-US" b="1" dirty="0"/>
              <a:t>a person’s notions of self</a:t>
            </a:r>
            <a:r>
              <a:rPr lang="en-US" dirty="0" smtClean="0"/>
              <a:t>’.</a:t>
            </a:r>
          </a:p>
          <a:p>
            <a:pPr marL="514350" indent="-514350">
              <a:lnSpc>
                <a:spcPct val="150000"/>
              </a:lnSpc>
            </a:pPr>
            <a:r>
              <a:rPr lang="en-US" dirty="0" smtClean="0"/>
              <a:t>Aspects </a:t>
            </a:r>
            <a:r>
              <a:rPr lang="en-US" dirty="0"/>
              <a:t>or dimensions of ourselves that distinguish us from other people (e.g., our age, personal interests and pursuits, personality).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10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00ACAF"/>
                </a:solidFill>
              </a:rPr>
              <a:t>B. Social identity</a:t>
            </a:r>
            <a:endParaRPr lang="en-US" sz="3200" b="1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81200"/>
            <a:ext cx="8552688" cy="41910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70000"/>
              </a:lnSpc>
            </a:pPr>
            <a:r>
              <a:rPr lang="en-US" dirty="0"/>
              <a:t>O</a:t>
            </a:r>
            <a:r>
              <a:rPr lang="en-US" dirty="0" smtClean="0"/>
              <a:t>ur </a:t>
            </a:r>
            <a:r>
              <a:rPr lang="en-US" dirty="0"/>
              <a:t>social group membership affiliations (</a:t>
            </a:r>
            <a:r>
              <a:rPr lang="en-US" dirty="0" err="1"/>
              <a:t>Tajfel</a:t>
            </a:r>
            <a:r>
              <a:rPr lang="en-US" dirty="0"/>
              <a:t> 1981, 1982), as well as the ‘emotional significance’ of that membership.</a:t>
            </a:r>
          </a:p>
          <a:p>
            <a:pPr marL="514350" indent="-514350">
              <a:lnSpc>
                <a:spcPct val="170000"/>
              </a:lnSpc>
            </a:pPr>
            <a:r>
              <a:rPr lang="en-US" dirty="0" smtClean="0"/>
              <a:t>How we </a:t>
            </a:r>
            <a:r>
              <a:rPr lang="en-US" dirty="0"/>
              <a:t>identify ourselves in relation to others based on what we have in </a:t>
            </a:r>
            <a:r>
              <a:rPr lang="en-US" dirty="0" smtClean="0"/>
              <a:t>common (</a:t>
            </a:r>
            <a:r>
              <a:rPr lang="en-US" dirty="0" err="1" smtClean="0"/>
              <a:t>ingroup</a:t>
            </a:r>
            <a:r>
              <a:rPr lang="en-US" dirty="0" smtClean="0"/>
              <a:t>) or not (</a:t>
            </a:r>
            <a:r>
              <a:rPr lang="en-US" dirty="0" err="1" smtClean="0"/>
              <a:t>outgroup</a:t>
            </a:r>
            <a:r>
              <a:rPr lang="en-US" dirty="0" smtClean="0"/>
              <a:t>)</a:t>
            </a:r>
          </a:p>
          <a:p>
            <a:pPr marL="514350" indent="-514350">
              <a:lnSpc>
                <a:spcPct val="170000"/>
              </a:lnSpc>
            </a:pPr>
            <a:r>
              <a:rPr lang="en-US" dirty="0" smtClean="0"/>
              <a:t>E.g. cultural </a:t>
            </a:r>
            <a:r>
              <a:rPr lang="en-US" dirty="0"/>
              <a:t>or ethnic membership, age, social class, gender, sexual orientation, political or religious affiliation, disability, professional, and relational role identities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97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315200" cy="1341438"/>
          </a:xfrm>
        </p:spPr>
        <p:txBody>
          <a:bodyPr/>
          <a:lstStyle/>
          <a:p>
            <a:r>
              <a:rPr lang="en-US" sz="3200" dirty="0">
                <a:solidFill>
                  <a:srgbClr val="00ACAF"/>
                </a:solidFill>
              </a:rPr>
              <a:t>C</a:t>
            </a:r>
            <a:r>
              <a:rPr lang="en-US" sz="3200" b="1" dirty="0" smtClean="0">
                <a:solidFill>
                  <a:srgbClr val="00ACAF"/>
                </a:solidFill>
              </a:rPr>
              <a:t>. Cultural </a:t>
            </a:r>
            <a:r>
              <a:rPr lang="en-US" sz="3200" b="1" dirty="0">
                <a:solidFill>
                  <a:srgbClr val="00ACAF"/>
                </a:solidFill>
              </a:rPr>
              <a:t>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4800600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70000"/>
              </a:lnSpc>
            </a:pPr>
            <a:r>
              <a:rPr lang="en-US" dirty="0" smtClean="0"/>
              <a:t>‘</a:t>
            </a:r>
            <a:r>
              <a:rPr lang="en-US" u="sng" dirty="0" smtClean="0"/>
              <a:t>situated </a:t>
            </a:r>
            <a:r>
              <a:rPr lang="en-US" u="sng" dirty="0"/>
              <a:t>sense of self </a:t>
            </a:r>
            <a:r>
              <a:rPr lang="en-US" dirty="0"/>
              <a:t>that is shaped by our cultural experiences and social locations’ (</a:t>
            </a:r>
            <a:r>
              <a:rPr lang="en-US" dirty="0" err="1"/>
              <a:t>Sorrells</a:t>
            </a:r>
            <a:r>
              <a:rPr lang="en-US" dirty="0"/>
              <a:t> 2013: 15)</a:t>
            </a:r>
          </a:p>
          <a:p>
            <a:pPr marL="457200" indent="-457200">
              <a:lnSpc>
                <a:spcPct val="170000"/>
              </a:lnSpc>
            </a:pPr>
            <a:r>
              <a:rPr lang="en-US" dirty="0" smtClean="0"/>
              <a:t>‘</a:t>
            </a:r>
            <a:r>
              <a:rPr lang="en-US" dirty="0"/>
              <a:t>The </a:t>
            </a:r>
            <a:r>
              <a:rPr lang="en-US" u="sng" dirty="0"/>
              <a:t>emotional significance </a:t>
            </a:r>
            <a:r>
              <a:rPr lang="en-US" dirty="0"/>
              <a:t>that we attach to our sense of belonging or affiliation with the larger culture’ (Ting-Toomey and Chung , 2012: 74</a:t>
            </a:r>
            <a:r>
              <a:rPr lang="en-US" dirty="0" smtClean="0"/>
              <a:t>)</a:t>
            </a:r>
          </a:p>
          <a:p>
            <a:pPr marL="457200" indent="-457200">
              <a:lnSpc>
                <a:spcPct val="170000"/>
              </a:lnSpc>
            </a:pPr>
            <a:r>
              <a:rPr lang="en-US" dirty="0" smtClean="0"/>
              <a:t>Collection of multiple identities (ethnic, nationality, gender)</a:t>
            </a:r>
            <a:endParaRPr lang="en-US" dirty="0"/>
          </a:p>
          <a:p>
            <a:pPr marL="457200" indent="-457200">
              <a:lnSpc>
                <a:spcPct val="170000"/>
              </a:lnSpc>
            </a:pPr>
            <a:r>
              <a:rPr lang="en-US" dirty="0" smtClean="0"/>
              <a:t>through </a:t>
            </a:r>
            <a:r>
              <a:rPr lang="en-US" dirty="0"/>
              <a:t>primary </a:t>
            </a:r>
            <a:r>
              <a:rPr lang="en-US" dirty="0" smtClean="0"/>
              <a:t>socialization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11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924800" cy="14779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ACAF"/>
                </a:solidFill>
              </a:rPr>
              <a:t>D</a:t>
            </a:r>
            <a:r>
              <a:rPr lang="en-US" sz="3600" b="1" dirty="0" smtClean="0">
                <a:solidFill>
                  <a:srgbClr val="00ACAF"/>
                </a:solidFill>
              </a:rPr>
              <a:t>. Multicultural identities</a:t>
            </a:r>
            <a:endParaRPr lang="en-US" sz="3200" b="1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8077200" cy="46482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60000"/>
              </a:lnSpc>
            </a:pPr>
            <a:r>
              <a:rPr lang="en-US" sz="3100" dirty="0" smtClean="0"/>
              <a:t>‘</a:t>
            </a:r>
            <a:r>
              <a:rPr lang="en-US" sz="3100" dirty="0"/>
              <a:t>[a] sense of </a:t>
            </a:r>
            <a:r>
              <a:rPr lang="en-US" sz="3100" dirty="0" err="1" smtClean="0"/>
              <a:t>inbetweeness</a:t>
            </a:r>
            <a:r>
              <a:rPr lang="en-US" sz="3100" dirty="0" smtClean="0"/>
              <a:t> </a:t>
            </a:r>
            <a:r>
              <a:rPr lang="en-US" sz="3100" dirty="0"/>
              <a:t>that develops as a result of frequent or multiple cultural border crossings’ (Martin and Nakayama 2008: G-4) .</a:t>
            </a:r>
          </a:p>
          <a:p>
            <a:pPr marL="514350" indent="-514350">
              <a:lnSpc>
                <a:spcPct val="160000"/>
              </a:lnSpc>
            </a:pPr>
            <a:r>
              <a:rPr lang="en-US" sz="3100" dirty="0" smtClean="0"/>
              <a:t>Individuals </a:t>
            </a:r>
            <a:r>
              <a:rPr lang="en-US" sz="3100" dirty="0"/>
              <a:t>may develop </a:t>
            </a:r>
            <a:r>
              <a:rPr lang="en-US" sz="3100" b="1" dirty="0"/>
              <a:t>hybrid (mixed) identities </a:t>
            </a:r>
            <a:r>
              <a:rPr lang="en-US" sz="3100" dirty="0"/>
              <a:t>that integrate diverse cultural elements (e.g., multiple languages, local values, global perspectives) </a:t>
            </a:r>
            <a:r>
              <a:rPr lang="en-US" sz="3100" dirty="0" smtClean="0"/>
              <a:t>that </a:t>
            </a:r>
            <a:r>
              <a:rPr lang="en-US" sz="3100" dirty="0"/>
              <a:t>help them to function in </a:t>
            </a:r>
            <a:r>
              <a:rPr lang="en-US" sz="3100" dirty="0" smtClean="0"/>
              <a:t>a multicultural society </a:t>
            </a:r>
            <a:r>
              <a:rPr lang="en-US" sz="3100" dirty="0"/>
              <a:t>(</a:t>
            </a:r>
            <a:r>
              <a:rPr lang="en-US" sz="3100" dirty="0" err="1"/>
              <a:t>Kraidy</a:t>
            </a:r>
            <a:r>
              <a:rPr lang="en-US" sz="3100" dirty="0"/>
              <a:t> 2005; </a:t>
            </a:r>
            <a:r>
              <a:rPr lang="en-US" sz="3100" dirty="0" err="1"/>
              <a:t>Kramsch</a:t>
            </a:r>
            <a:r>
              <a:rPr lang="en-US" sz="3100" dirty="0"/>
              <a:t> 1993, 2009</a:t>
            </a:r>
            <a:r>
              <a:rPr lang="en-US" sz="3100" dirty="0" smtClean="0"/>
              <a:t>). </a:t>
            </a:r>
            <a:endParaRPr lang="en-US" sz="3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05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696200" cy="10969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ACAF"/>
                </a:solidFill>
              </a:rPr>
              <a:t>Multicultural identities and marginality</a:t>
            </a:r>
            <a:endParaRPr lang="en-US" sz="3200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24990"/>
            <a:ext cx="7848600" cy="442341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 smtClean="0"/>
              <a:t>Individuals </a:t>
            </a:r>
            <a:r>
              <a:rPr lang="en-US" dirty="0"/>
              <a:t>with intense exposure to </a:t>
            </a:r>
            <a:r>
              <a:rPr lang="en-US" dirty="0" smtClean="0"/>
              <a:t>diverse cultures </a:t>
            </a:r>
            <a:r>
              <a:rPr lang="en-US" dirty="0"/>
              <a:t>may internalize multiple ‘cultural </a:t>
            </a:r>
            <a:r>
              <a:rPr lang="en-US" dirty="0" smtClean="0"/>
              <a:t> frames </a:t>
            </a:r>
            <a:r>
              <a:rPr lang="en-US" dirty="0"/>
              <a:t>of reference’ and experience </a:t>
            </a:r>
            <a:r>
              <a:rPr lang="en-US" b="1" dirty="0"/>
              <a:t>encapsulated marginality or constructive marginality</a:t>
            </a:r>
            <a:r>
              <a:rPr lang="en-US" dirty="0"/>
              <a:t>:</a:t>
            </a:r>
          </a:p>
          <a:p>
            <a:pPr marL="971550" lvl="1" indent="-571500">
              <a:lnSpc>
                <a:spcPct val="160000"/>
              </a:lnSpc>
            </a:pPr>
            <a:r>
              <a:rPr lang="en-US" sz="2200" dirty="0"/>
              <a:t>‘The </a:t>
            </a:r>
            <a:r>
              <a:rPr lang="en-US" sz="2200" b="1" dirty="0"/>
              <a:t>encapsulated marginal </a:t>
            </a:r>
            <a:r>
              <a:rPr lang="en-US" sz="2200" dirty="0"/>
              <a:t>is a person who is buffeted by conflicting cultural loyalties and unable to construct a unified identity’ (J.M. Bennett 1993: 113).</a:t>
            </a:r>
          </a:p>
          <a:p>
            <a:pPr marL="971550" lvl="1" indent="-571500">
              <a:lnSpc>
                <a:spcPct val="160000"/>
              </a:lnSpc>
            </a:pPr>
            <a:r>
              <a:rPr lang="en-US" sz="2200" dirty="0"/>
              <a:t>A </a:t>
            </a:r>
            <a:r>
              <a:rPr lang="en-US" sz="2200" b="1" dirty="0"/>
              <a:t>constructive marginal </a:t>
            </a:r>
            <a:r>
              <a:rPr lang="en-US" sz="2200" dirty="0"/>
              <a:t>is a person who is able to construct context intentionally and consciously for the purpose of creating his or her own identity (J.M. Bennett 1993: 113).</a:t>
            </a:r>
          </a:p>
          <a:p>
            <a:pPr marL="0" indent="0">
              <a:lnSpc>
                <a:spcPct val="160000"/>
              </a:lnSpc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52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498080" cy="914400"/>
          </a:xfrm>
        </p:spPr>
        <p:txBody>
          <a:bodyPr/>
          <a:lstStyle/>
          <a:p>
            <a:r>
              <a:rPr lang="en-US" sz="3200" dirty="0">
                <a:solidFill>
                  <a:srgbClr val="00ACAF"/>
                </a:solidFill>
              </a:rPr>
              <a:t>E</a:t>
            </a:r>
            <a:r>
              <a:rPr lang="en-US" sz="3200" b="1" dirty="0" smtClean="0">
                <a:solidFill>
                  <a:srgbClr val="00ACAF"/>
                </a:solidFill>
              </a:rPr>
              <a:t>. Language </a:t>
            </a:r>
            <a:r>
              <a:rPr lang="en-US" sz="3200" b="1" dirty="0">
                <a:solidFill>
                  <a:srgbClr val="00ACAF"/>
                </a:solidFill>
              </a:rPr>
              <a:t>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70000"/>
              </a:lnSpc>
            </a:pPr>
            <a:r>
              <a:rPr lang="en-US" dirty="0"/>
              <a:t>‘the assumed and/or attributed relationship between one’s sense of self and a means of </a:t>
            </a:r>
            <a:r>
              <a:rPr lang="en-US" dirty="0" smtClean="0"/>
              <a:t>communication, i.e. language(</a:t>
            </a:r>
            <a:r>
              <a:rPr lang="en-US" dirty="0"/>
              <a:t>e.g., English), a dialect (e.g., Geordie) or a </a:t>
            </a:r>
            <a:r>
              <a:rPr lang="en-US" dirty="0" err="1"/>
              <a:t>sociolect</a:t>
            </a:r>
            <a:r>
              <a:rPr lang="en-US" dirty="0"/>
              <a:t> (e.g., football-speak)’ (Block, 2007: 40) </a:t>
            </a:r>
          </a:p>
          <a:p>
            <a:pPr marL="457200" lvl="1" indent="-457200">
              <a:lnSpc>
                <a:spcPct val="170000"/>
              </a:lnSpc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dirty="0"/>
              <a:t>Linked </a:t>
            </a:r>
            <a:r>
              <a:rPr lang="en-US" dirty="0" smtClean="0"/>
              <a:t>to: (</a:t>
            </a:r>
            <a:r>
              <a:rPr lang="en-US" dirty="0"/>
              <a:t>Block 2007; Leung </a:t>
            </a:r>
            <a:r>
              <a:rPr lang="en-US" i="1" dirty="0"/>
              <a:t>et al. </a:t>
            </a:r>
            <a:r>
              <a:rPr lang="en-US" dirty="0"/>
              <a:t>1997; </a:t>
            </a:r>
            <a:r>
              <a:rPr lang="en-US" dirty="0" err="1"/>
              <a:t>Rampton</a:t>
            </a:r>
            <a:r>
              <a:rPr lang="en-US" dirty="0"/>
              <a:t> 1990).</a:t>
            </a:r>
          </a:p>
          <a:p>
            <a:pPr marL="731520" lvl="1" indent="-457200">
              <a:lnSpc>
                <a:spcPct val="170000"/>
              </a:lnSpc>
            </a:pPr>
            <a:r>
              <a:rPr lang="en-US" b="1" dirty="0" smtClean="0"/>
              <a:t>language expertise</a:t>
            </a:r>
            <a:r>
              <a:rPr lang="en-US" dirty="0" smtClean="0"/>
              <a:t>: degree </a:t>
            </a:r>
            <a:r>
              <a:rPr lang="en-US" dirty="0"/>
              <a:t>of proficiency in a particular </a:t>
            </a:r>
            <a:r>
              <a:rPr lang="en-US" dirty="0" smtClean="0"/>
              <a:t>language</a:t>
            </a:r>
            <a:endParaRPr lang="en-US" dirty="0"/>
          </a:p>
          <a:p>
            <a:pPr marL="731520" lvl="1" indent="-457200">
              <a:lnSpc>
                <a:spcPct val="170000"/>
              </a:lnSpc>
            </a:pPr>
            <a:r>
              <a:rPr lang="en-US" b="1" dirty="0"/>
              <a:t>language </a:t>
            </a:r>
            <a:r>
              <a:rPr lang="en-US" b="1" dirty="0" smtClean="0"/>
              <a:t>affiliation</a:t>
            </a:r>
            <a:r>
              <a:rPr lang="en-US" dirty="0" smtClean="0"/>
              <a:t>: attitudes </a:t>
            </a:r>
            <a:r>
              <a:rPr lang="en-US" dirty="0"/>
              <a:t>towards and feelings about the </a:t>
            </a:r>
            <a:r>
              <a:rPr lang="en-US" dirty="0" smtClean="0"/>
              <a:t>language </a:t>
            </a:r>
            <a:endParaRPr lang="en-US" dirty="0"/>
          </a:p>
          <a:p>
            <a:pPr marL="731520" lvl="1" indent="-457200">
              <a:lnSpc>
                <a:spcPct val="170000"/>
              </a:lnSpc>
            </a:pPr>
            <a:r>
              <a:rPr lang="en-US" b="1" dirty="0"/>
              <a:t>language </a:t>
            </a:r>
            <a:r>
              <a:rPr lang="en-US" b="1" dirty="0" smtClean="0"/>
              <a:t>inheritance</a:t>
            </a:r>
            <a:r>
              <a:rPr lang="en-US" dirty="0" smtClean="0"/>
              <a:t>: being </a:t>
            </a:r>
            <a:r>
              <a:rPr lang="en-US" dirty="0"/>
              <a:t>born into a family or community where the language is </a:t>
            </a:r>
            <a:r>
              <a:rPr lang="en-US" dirty="0" smtClean="0"/>
              <a:t>spoken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8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498080" cy="914400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ACAF"/>
                </a:solidFill>
              </a:rPr>
              <a:t>Language identity ii</a:t>
            </a:r>
            <a:endParaRPr lang="en-US" sz="3200" b="1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47244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70000"/>
              </a:lnSpc>
            </a:pPr>
            <a:r>
              <a:rPr lang="en-US" dirty="0" smtClean="0"/>
              <a:t>Individuals </a:t>
            </a:r>
            <a:r>
              <a:rPr lang="en-US" dirty="0"/>
              <a:t>may wish to be affiliated with a particular social or cultural group through the use of their second language (</a:t>
            </a:r>
            <a:r>
              <a:rPr lang="en-US" b="1" dirty="0"/>
              <a:t>avowed identity</a:t>
            </a:r>
            <a:r>
              <a:rPr lang="en-US" dirty="0"/>
              <a:t>) but first language speakers may persist in viewing them as outsiders no matter how well they master the language (</a:t>
            </a:r>
            <a:r>
              <a:rPr lang="en-US" b="1" dirty="0"/>
              <a:t>ascribed identity</a:t>
            </a:r>
            <a:r>
              <a:rPr lang="en-US" dirty="0"/>
              <a:t>).</a:t>
            </a:r>
          </a:p>
          <a:p>
            <a:pPr marL="457200" indent="-457200">
              <a:lnSpc>
                <a:spcPct val="170000"/>
              </a:lnSpc>
            </a:pPr>
            <a:r>
              <a:rPr lang="en-US" dirty="0"/>
              <a:t>Many dimensions of our social and cultural identities (e.g., gender, class, nationality, ethnicity) are shaped by the language(s) we speak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B85A685-13BA-4B5C-9398-9F8F28F6665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68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ANALYSING IDENTITIES (Holiday, 2010)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95600" y="571500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References in this section in Holiday 2010 (120-8)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588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>
                <a:solidFill>
                  <a:srgbClr val="00ACAF"/>
                </a:solidFill>
              </a:rPr>
              <a:t>Pavlenko</a:t>
            </a:r>
            <a:r>
              <a:rPr lang="en-GB" dirty="0" smtClean="0">
                <a:solidFill>
                  <a:srgbClr val="00ACAF"/>
                </a:solidFill>
              </a:rPr>
              <a:t> and </a:t>
            </a:r>
            <a:r>
              <a:rPr lang="en-GB" dirty="0" err="1" smtClean="0">
                <a:solidFill>
                  <a:srgbClr val="00ACAF"/>
                </a:solidFill>
              </a:rPr>
              <a:t>Blackledge</a:t>
            </a:r>
            <a:r>
              <a:rPr lang="en-GB" dirty="0" smtClean="0">
                <a:solidFill>
                  <a:srgbClr val="00ACAF"/>
                </a:solidFill>
              </a:rPr>
              <a:t> (2003)</a:t>
            </a:r>
            <a:endParaRPr lang="en-GB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4990"/>
            <a:ext cx="7716838" cy="435292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GB" b="1" dirty="0" smtClean="0"/>
              <a:t>Imposed identities</a:t>
            </a:r>
            <a:r>
              <a:rPr lang="en-GB" dirty="0" smtClean="0"/>
              <a:t>: those which cannot be contested or resisted (citizenship related language testing required from immigrants who apply for British citizenship)</a:t>
            </a:r>
          </a:p>
          <a:p>
            <a:pPr>
              <a:lnSpc>
                <a:spcPct val="160000"/>
              </a:lnSpc>
            </a:pPr>
            <a:r>
              <a:rPr lang="en-GB" b="1" dirty="0" smtClean="0"/>
              <a:t>Assumed identities</a:t>
            </a:r>
            <a:r>
              <a:rPr lang="en-GB" dirty="0" smtClean="0"/>
              <a:t>: accepted and not negotiated (naturalised), e.g. heterosexual white middle-class males or monolingual speakers of the majority language</a:t>
            </a:r>
          </a:p>
          <a:p>
            <a:pPr>
              <a:lnSpc>
                <a:spcPct val="160000"/>
              </a:lnSpc>
            </a:pPr>
            <a:r>
              <a:rPr lang="en-GB" b="1" dirty="0" smtClean="0"/>
              <a:t>Negotiable identities</a:t>
            </a:r>
            <a:r>
              <a:rPr lang="en-GB" dirty="0" smtClean="0"/>
              <a:t>: gender, class, social status, sexuality, religious affiliation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06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533400"/>
            <a:ext cx="7498080" cy="1143000"/>
          </a:xfrm>
        </p:spPr>
        <p:txBody>
          <a:bodyPr/>
          <a:lstStyle/>
          <a:p>
            <a:r>
              <a:rPr lang="en-US" dirty="0">
                <a:solidFill>
                  <a:srgbClr val="00ACAF"/>
                </a:solidFill>
              </a:rPr>
              <a:t>Task: types of identities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648200" cy="4343400"/>
          </a:xfrm>
        </p:spPr>
        <p:txBody>
          <a:bodyPr numCol="2">
            <a:noAutofit/>
          </a:bodyPr>
          <a:lstStyle/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Personal identity</a:t>
            </a:r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Social identity</a:t>
            </a:r>
          </a:p>
          <a:p>
            <a:pPr marL="596646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 smtClean="0">
                <a:solidFill>
                  <a:srgbClr val="FF0000"/>
                </a:solidFill>
              </a:rPr>
              <a:t>Cultural </a:t>
            </a:r>
            <a:r>
              <a:rPr lang="en-US" sz="1600" dirty="0">
                <a:solidFill>
                  <a:srgbClr val="FF0000"/>
                </a:solidFill>
              </a:rPr>
              <a:t>identity</a:t>
            </a:r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 smtClean="0">
                <a:solidFill>
                  <a:srgbClr val="FF0000"/>
                </a:solidFill>
              </a:rPr>
              <a:t>Multicultural </a:t>
            </a:r>
            <a:r>
              <a:rPr lang="en-US" sz="1600" dirty="0">
                <a:solidFill>
                  <a:srgbClr val="FF0000"/>
                </a:solidFill>
              </a:rPr>
              <a:t>and multilingual identities</a:t>
            </a:r>
          </a:p>
          <a:p>
            <a:pPr marL="596646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Language identity</a:t>
            </a:r>
            <a:endParaRPr lang="en-GB" sz="1600" dirty="0">
              <a:solidFill>
                <a:srgbClr val="FF0000"/>
              </a:solidFill>
            </a:endParaRPr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 smtClean="0"/>
              <a:t>Age </a:t>
            </a:r>
            <a:r>
              <a:rPr lang="en-US" sz="1600" dirty="0"/>
              <a:t>identity</a:t>
            </a:r>
            <a:endParaRPr lang="en-GB" sz="1600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Class identity</a:t>
            </a:r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Gendered identities</a:t>
            </a:r>
            <a:endParaRPr lang="en-GB" sz="1600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National identity</a:t>
            </a:r>
            <a:endParaRPr lang="en-GB" sz="1600" dirty="0"/>
          </a:p>
          <a:p>
            <a:pPr marL="596646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Racial and ethnic identity</a:t>
            </a:r>
            <a:endParaRPr lang="en-GB" sz="1600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 smtClean="0"/>
              <a:t>Organizational </a:t>
            </a:r>
            <a:r>
              <a:rPr lang="en-US" sz="1600" dirty="0"/>
              <a:t>identity</a:t>
            </a:r>
            <a:endParaRPr lang="en-GB" sz="1600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Professional identity</a:t>
            </a:r>
            <a:endParaRPr lang="en-GB" sz="1600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Regional identity</a:t>
            </a:r>
            <a:endParaRPr lang="en-GB" sz="1600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Religious identity</a:t>
            </a:r>
            <a:endParaRPr lang="en-GB" sz="1600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Sexual identity	</a:t>
            </a:r>
            <a:endParaRPr lang="en-GB" sz="1600" dirty="0"/>
          </a:p>
          <a:p>
            <a:pPr marL="596646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/>
              <a:t>Virtual </a:t>
            </a:r>
            <a:r>
              <a:rPr lang="en-US" sz="1600" dirty="0" smtClean="0"/>
              <a:t>identities</a:t>
            </a:r>
            <a:endParaRPr lang="en-GB" sz="1600" dirty="0">
              <a:solidFill>
                <a:prstClr val="black"/>
              </a:solidFill>
            </a:endParaRPr>
          </a:p>
          <a:p>
            <a:endParaRPr lang="en-US" sz="16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78999480"/>
              </p:ext>
            </p:extLst>
          </p:nvPr>
        </p:nvGraphicFramePr>
        <p:xfrm>
          <a:off x="5334000" y="2514600"/>
          <a:ext cx="3657600" cy="195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981200"/>
              </a:tblGrid>
              <a:tr h="19559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Pavlenko</a:t>
                      </a:r>
                      <a:r>
                        <a:rPr lang="en-US" dirty="0" smtClean="0"/>
                        <a:t> and </a:t>
                      </a:r>
                      <a:r>
                        <a:rPr lang="en-US" dirty="0" err="1" smtClean="0"/>
                        <a:t>Blackledge</a:t>
                      </a:r>
                      <a:r>
                        <a:rPr lang="en-US" dirty="0" smtClean="0"/>
                        <a:t> (2003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30000"/>
                        </a:lnSpc>
                        <a:buFont typeface="Arial"/>
                        <a:buChar char="•"/>
                      </a:pPr>
                      <a:r>
                        <a:rPr lang="en-US" dirty="0" smtClean="0"/>
                        <a:t>Imposed</a:t>
                      </a:r>
                    </a:p>
                    <a:p>
                      <a:pPr marL="285750" indent="-285750">
                        <a:lnSpc>
                          <a:spcPct val="130000"/>
                        </a:lnSpc>
                        <a:buFont typeface="Arial"/>
                        <a:buChar char="•"/>
                      </a:pPr>
                      <a:r>
                        <a:rPr lang="en-US" dirty="0" smtClean="0"/>
                        <a:t>Assumed</a:t>
                      </a:r>
                    </a:p>
                    <a:p>
                      <a:pPr marL="285750" indent="-285750">
                        <a:lnSpc>
                          <a:spcPct val="130000"/>
                        </a:lnSpc>
                        <a:buFont typeface="Arial"/>
                        <a:buChar char="•"/>
                      </a:pPr>
                      <a:r>
                        <a:rPr lang="en-US" dirty="0" smtClean="0"/>
                        <a:t>Negotiable 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418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71800"/>
            <a:ext cx="7886700" cy="500570"/>
          </a:xfrm>
        </p:spPr>
        <p:txBody>
          <a:bodyPr/>
          <a:lstStyle/>
          <a:p>
            <a:r>
              <a:rPr lang="en-GB" dirty="0">
                <a:solidFill>
                  <a:srgbClr val="00ACAF"/>
                </a:solidFill>
              </a:rPr>
              <a:t>Identity and language learning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30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ACAF"/>
                </a:solidFill>
              </a:rPr>
              <a:t>DISCUSSION</a:t>
            </a:r>
            <a:endParaRPr lang="en-GB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8229600" cy="4343400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GB" dirty="0" smtClean="0"/>
              <a:t>How important would you say it is to learn the language, language variety or dialect of any cultural context if you are to fully understand its culture?</a:t>
            </a:r>
          </a:p>
          <a:p>
            <a:pPr>
              <a:lnSpc>
                <a:spcPct val="160000"/>
              </a:lnSpc>
            </a:pPr>
            <a:r>
              <a:rPr lang="en-GB" dirty="0" smtClean="0"/>
              <a:t>How far has your own learning of a new language involved taking on a ‘new identity’?</a:t>
            </a:r>
          </a:p>
          <a:p>
            <a:pPr>
              <a:lnSpc>
                <a:spcPct val="160000"/>
              </a:lnSpc>
            </a:pPr>
            <a:r>
              <a:rPr lang="en-GB" dirty="0" smtClean="0"/>
              <a:t>What factors relating to ‘culture’ and ‘identity’ do you think can facilitate or inhibit the learning of a new language?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90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ACAF"/>
                </a:solidFill>
              </a:rPr>
              <a:t>Identity and language learning</a:t>
            </a:r>
            <a:endParaRPr lang="en-GB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The learning of a second or additional language, especially when it is ‘forced’ upon </a:t>
            </a:r>
            <a:r>
              <a:rPr lang="en-GB" dirty="0" smtClean="0"/>
              <a:t>an individual </a:t>
            </a:r>
            <a:r>
              <a:rPr lang="en-GB" dirty="0"/>
              <a:t>by a (permanent) move to a new-language-speaking </a:t>
            </a:r>
            <a:r>
              <a:rPr lang="en-GB" dirty="0" smtClean="0"/>
              <a:t>community, </a:t>
            </a:r>
            <a:r>
              <a:rPr lang="en-GB" dirty="0"/>
              <a:t>is a </a:t>
            </a:r>
            <a:r>
              <a:rPr lang="en-GB" dirty="0" smtClean="0"/>
              <a:t>process which </a:t>
            </a:r>
            <a:r>
              <a:rPr lang="en-GB" dirty="0"/>
              <a:t>is inextricably linked to issues of culture and identity</a:t>
            </a:r>
            <a:r>
              <a:rPr lang="en-GB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Schumann (1976): Two </a:t>
            </a:r>
            <a:r>
              <a:rPr lang="en-GB" dirty="0"/>
              <a:t>factors are significant in learning an </a:t>
            </a:r>
            <a:r>
              <a:rPr lang="en-GB" dirty="0" smtClean="0"/>
              <a:t>additional language: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‘social distance’ </a:t>
            </a:r>
            <a:endParaRPr lang="en-GB" dirty="0" smtClean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 smtClean="0"/>
              <a:t>‘</a:t>
            </a:r>
            <a:r>
              <a:rPr lang="en-GB" dirty="0"/>
              <a:t>psychological distance</a:t>
            </a:r>
            <a:r>
              <a:rPr lang="en-GB" dirty="0" smtClean="0"/>
              <a:t>’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7875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ACAF"/>
                </a:solidFill>
              </a:rPr>
              <a:t>1. Social distance</a:t>
            </a:r>
            <a:endParaRPr lang="en-GB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468816" cy="46482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GB" dirty="0" smtClean="0"/>
              <a:t>Pertains </a:t>
            </a:r>
            <a:r>
              <a:rPr lang="en-GB" dirty="0"/>
              <a:t>to the </a:t>
            </a:r>
            <a:r>
              <a:rPr lang="en-GB" dirty="0" smtClean="0"/>
              <a:t>individual as </a:t>
            </a:r>
            <a:r>
              <a:rPr lang="en-GB" dirty="0"/>
              <a:t>a member of a social group which is in contact with another social group </a:t>
            </a:r>
            <a:r>
              <a:rPr lang="en-GB" dirty="0" smtClean="0"/>
              <a:t>whose members </a:t>
            </a:r>
            <a:r>
              <a:rPr lang="en-GB" dirty="0"/>
              <a:t>speak a different </a:t>
            </a:r>
            <a:r>
              <a:rPr lang="en-GB" dirty="0" smtClean="0"/>
              <a:t>language. </a:t>
            </a:r>
          </a:p>
          <a:p>
            <a:pPr>
              <a:lnSpc>
                <a:spcPct val="160000"/>
              </a:lnSpc>
            </a:pPr>
            <a:r>
              <a:rPr lang="en-GB" dirty="0" smtClean="0"/>
              <a:t>The </a:t>
            </a:r>
            <a:r>
              <a:rPr lang="en-GB" dirty="0"/>
              <a:t>degree of ‘social solidarity’ between the </a:t>
            </a:r>
            <a:r>
              <a:rPr lang="en-GB" dirty="0" smtClean="0"/>
              <a:t>two groups </a:t>
            </a:r>
            <a:r>
              <a:rPr lang="en-GB" dirty="0"/>
              <a:t>will </a:t>
            </a:r>
            <a:r>
              <a:rPr lang="en-GB" dirty="0" smtClean="0"/>
              <a:t>affect </a:t>
            </a:r>
            <a:r>
              <a:rPr lang="en-GB" dirty="0"/>
              <a:t>how a </a:t>
            </a:r>
            <a:r>
              <a:rPr lang="en-GB" dirty="0" smtClean="0"/>
              <a:t>L2 group </a:t>
            </a:r>
            <a:r>
              <a:rPr lang="en-GB" dirty="0"/>
              <a:t>acquires the language of </a:t>
            </a:r>
            <a:r>
              <a:rPr lang="en-GB" dirty="0" smtClean="0"/>
              <a:t>a particular </a:t>
            </a:r>
            <a:r>
              <a:rPr lang="en-GB" dirty="0"/>
              <a:t>target language group. </a:t>
            </a:r>
            <a:endParaRPr lang="en-GB" dirty="0" smtClean="0"/>
          </a:p>
          <a:p>
            <a:pPr>
              <a:lnSpc>
                <a:spcPct val="160000"/>
              </a:lnSpc>
            </a:pPr>
            <a:r>
              <a:rPr lang="en-GB" dirty="0" smtClean="0"/>
              <a:t>The </a:t>
            </a:r>
            <a:r>
              <a:rPr lang="en-GB" dirty="0"/>
              <a:t>assumption is that the greater the social </a:t>
            </a:r>
            <a:r>
              <a:rPr lang="en-GB" dirty="0" smtClean="0"/>
              <a:t>distance between </a:t>
            </a:r>
            <a:r>
              <a:rPr lang="en-GB" dirty="0"/>
              <a:t>the two groups the more difficult it is for the members of the second </a:t>
            </a:r>
            <a:r>
              <a:rPr lang="en-GB" dirty="0" smtClean="0"/>
              <a:t>language learning </a:t>
            </a:r>
            <a:r>
              <a:rPr lang="en-GB" dirty="0"/>
              <a:t>group to acquire the language of the target language </a:t>
            </a:r>
            <a:r>
              <a:rPr lang="en-GB" dirty="0" smtClean="0"/>
              <a:t>group.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0283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ACAF"/>
                </a:solidFill>
              </a:rPr>
              <a:t>2. Psychological distance </a:t>
            </a:r>
            <a:endParaRPr lang="en-GB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38" y="1895474"/>
            <a:ext cx="7886700" cy="435292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 smtClean="0"/>
              <a:t>determined by </a:t>
            </a:r>
            <a:r>
              <a:rPr lang="en-GB" dirty="0"/>
              <a:t>how the individual feels in the process of learning the second </a:t>
            </a:r>
            <a:r>
              <a:rPr lang="en-GB" dirty="0" smtClean="0"/>
              <a:t>language</a:t>
            </a:r>
          </a:p>
          <a:p>
            <a:pPr>
              <a:lnSpc>
                <a:spcPct val="150000"/>
              </a:lnSpc>
            </a:pPr>
            <a:r>
              <a:rPr lang="en-GB" dirty="0"/>
              <a:t>The </a:t>
            </a:r>
            <a:r>
              <a:rPr lang="en-GB" dirty="0" smtClean="0"/>
              <a:t>process involves:</a:t>
            </a:r>
          </a:p>
          <a:p>
            <a:pPr marL="365760" lvl="1" indent="0">
              <a:lnSpc>
                <a:spcPct val="150000"/>
              </a:lnSpc>
              <a:buNone/>
            </a:pPr>
            <a:r>
              <a:rPr lang="en-GB" dirty="0" smtClean="0">
                <a:solidFill>
                  <a:schemeClr val="tx2"/>
                </a:solidFill>
              </a:rPr>
              <a:t>a. </a:t>
            </a:r>
            <a:r>
              <a:rPr lang="en-GB" dirty="0" smtClean="0"/>
              <a:t>‘language </a:t>
            </a:r>
            <a:r>
              <a:rPr lang="en-GB" dirty="0"/>
              <a:t>shock’, the severity of which is influenced by how the </a:t>
            </a:r>
            <a:r>
              <a:rPr lang="en-GB" dirty="0" smtClean="0"/>
              <a:t>individual learner </a:t>
            </a:r>
            <a:r>
              <a:rPr lang="en-GB" dirty="0"/>
              <a:t>reacts when confronted with new words and expressions (e.g. whether </a:t>
            </a:r>
            <a:r>
              <a:rPr lang="en-GB" dirty="0" smtClean="0"/>
              <a:t>the learner </a:t>
            </a:r>
            <a:r>
              <a:rPr lang="en-GB" dirty="0"/>
              <a:t>feels confused, embarrassed or lost) and how the learner deals with such feelings</a:t>
            </a:r>
            <a:r>
              <a:rPr lang="en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32955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824866"/>
            <a:ext cx="7886700" cy="775334"/>
          </a:xfrm>
        </p:spPr>
        <p:txBody>
          <a:bodyPr/>
          <a:lstStyle/>
          <a:p>
            <a:r>
              <a:rPr lang="en-GB" dirty="0">
                <a:solidFill>
                  <a:srgbClr val="00ACAF"/>
                </a:solidFill>
              </a:rPr>
              <a:t>Psychological distance </a:t>
            </a:r>
            <a:r>
              <a:rPr lang="en-GB" dirty="0" smtClean="0">
                <a:solidFill>
                  <a:srgbClr val="00ACAF"/>
                </a:solidFill>
              </a:rPr>
              <a:t>ii</a:t>
            </a:r>
            <a:endParaRPr lang="en-GB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305800" cy="4953000"/>
          </a:xfrm>
        </p:spPr>
        <p:txBody>
          <a:bodyPr>
            <a:normAutofit/>
          </a:bodyPr>
          <a:lstStyle/>
          <a:p>
            <a:pPr marL="91440" lvl="1" indent="0">
              <a:lnSpc>
                <a:spcPct val="150000"/>
              </a:lnSpc>
              <a:spcBef>
                <a:spcPts val="600"/>
              </a:spcBef>
              <a:buSzPct val="70000"/>
              <a:buNone/>
            </a:pPr>
            <a:r>
              <a:rPr lang="en-GB" sz="1600" dirty="0" smtClean="0">
                <a:solidFill>
                  <a:srgbClr val="00ACAF"/>
                </a:solidFill>
              </a:rPr>
              <a:t>2</a:t>
            </a:r>
            <a:r>
              <a:rPr lang="en-GB" sz="1600" dirty="0" smtClean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GB" sz="1600" dirty="0" smtClean="0"/>
              <a:t>‘culture </a:t>
            </a:r>
            <a:r>
              <a:rPr lang="en-GB" sz="1600" dirty="0"/>
              <a:t>shock’: the learner experiences culture shock when </a:t>
            </a:r>
            <a:r>
              <a:rPr lang="en-GB" sz="1600" dirty="0" smtClean="0"/>
              <a:t>s/he </a:t>
            </a:r>
            <a:r>
              <a:rPr lang="en-GB" sz="1600" dirty="0"/>
              <a:t>finds that </a:t>
            </a:r>
            <a:r>
              <a:rPr lang="en-GB" sz="1600" dirty="0" smtClean="0"/>
              <a:t>their problem</a:t>
            </a:r>
            <a:r>
              <a:rPr lang="en-GB" sz="1600" dirty="0"/>
              <a:t>-solving and coping mechanisms do not work in the new culture. When they are used they do not get the accustomed results</a:t>
            </a:r>
          </a:p>
          <a:p>
            <a:pPr lvl="1">
              <a:lnSpc>
                <a:spcPct val="150000"/>
              </a:lnSpc>
            </a:pPr>
            <a:r>
              <a:rPr lang="en-GB" sz="1600" dirty="0"/>
              <a:t>The resultant mental state </a:t>
            </a:r>
            <a:r>
              <a:rPr lang="en-GB" sz="1600" dirty="0" smtClean="0"/>
              <a:t>can produce </a:t>
            </a:r>
            <a:r>
              <a:rPr lang="en-GB" sz="1600" dirty="0"/>
              <a:t>a whole syndrome of rejection which diverts attention and energy from </a:t>
            </a:r>
            <a:r>
              <a:rPr lang="en-GB" sz="1600" dirty="0" smtClean="0"/>
              <a:t>second language </a:t>
            </a:r>
            <a:r>
              <a:rPr lang="en-GB" sz="1600" dirty="0"/>
              <a:t>learning. </a:t>
            </a:r>
            <a:endParaRPr lang="en-GB" sz="1600" dirty="0" smtClean="0"/>
          </a:p>
          <a:p>
            <a:pPr lvl="1">
              <a:lnSpc>
                <a:spcPct val="150000"/>
              </a:lnSpc>
            </a:pPr>
            <a:r>
              <a:rPr lang="en-GB" sz="1600" dirty="0" smtClean="0"/>
              <a:t>The </a:t>
            </a:r>
            <a:r>
              <a:rPr lang="en-GB" sz="1600" dirty="0"/>
              <a:t>learner, in attempting to find a cause for his disorientation, </a:t>
            </a:r>
            <a:r>
              <a:rPr lang="en-GB" sz="1600" dirty="0" smtClean="0"/>
              <a:t>may reject </a:t>
            </a:r>
            <a:r>
              <a:rPr lang="en-GB" sz="1600" dirty="0"/>
              <a:t>himself, the people of the host country, the organization for which he is working</a:t>
            </a:r>
            <a:r>
              <a:rPr lang="en-GB" sz="1600" dirty="0" smtClean="0"/>
              <a:t>, and </a:t>
            </a:r>
            <a:r>
              <a:rPr lang="en-GB" sz="1600" dirty="0"/>
              <a:t>even his own culture.’ </a:t>
            </a:r>
            <a:endParaRPr lang="en-GB" sz="16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GB" sz="1600" dirty="0" smtClean="0">
                <a:solidFill>
                  <a:srgbClr val="00ACAF"/>
                </a:solidFill>
              </a:rPr>
              <a:t>3. </a:t>
            </a:r>
            <a:r>
              <a:rPr lang="en-GB" sz="1600" dirty="0" smtClean="0"/>
              <a:t>‘ego permeability’:  the </a:t>
            </a:r>
            <a:r>
              <a:rPr lang="en-GB" sz="1600" dirty="0"/>
              <a:t>ability that some people </a:t>
            </a:r>
            <a:r>
              <a:rPr lang="en-GB" sz="1600" dirty="0" smtClean="0"/>
              <a:t>have </a:t>
            </a:r>
            <a:r>
              <a:rPr lang="en-GB" sz="1600" dirty="0"/>
              <a:t>‘to partially and </a:t>
            </a:r>
            <a:r>
              <a:rPr lang="en-GB" sz="1600" dirty="0" smtClean="0"/>
              <a:t>temporarily give </a:t>
            </a:r>
            <a:r>
              <a:rPr lang="en-GB" sz="1600" dirty="0"/>
              <a:t>up their separateness of identity’ and, as a consequence, be more effective </a:t>
            </a:r>
            <a:r>
              <a:rPr lang="en-GB" sz="1600" dirty="0" smtClean="0"/>
              <a:t>learners of </a:t>
            </a:r>
            <a:r>
              <a:rPr lang="en-GB" sz="1600" dirty="0"/>
              <a:t>the second language </a:t>
            </a:r>
            <a:r>
              <a:rPr lang="en-GB" sz="1600" dirty="0" smtClean="0"/>
              <a:t>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085296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ACAF"/>
                </a:solidFill>
              </a:rPr>
              <a:t>References </a:t>
            </a:r>
            <a:endParaRPr lang="en-US" dirty="0">
              <a:solidFill>
                <a:srgbClr val="00ACA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Jackson, J. (2014). Language and intercultural communication. London: </a:t>
            </a:r>
            <a:r>
              <a:rPr lang="en-US" dirty="0" err="1" smtClean="0"/>
              <a:t>Routlegde</a:t>
            </a:r>
            <a:r>
              <a:rPr lang="en-US" dirty="0" smtClean="0"/>
              <a:t>. (chapter 6)</a:t>
            </a:r>
          </a:p>
          <a:p>
            <a:r>
              <a:rPr lang="en-US" dirty="0" smtClean="0"/>
              <a:t>Holliday, A. (2010). </a:t>
            </a:r>
            <a:r>
              <a:rPr lang="en-US" dirty="0"/>
              <a:t>Intercultural communication: an advanced resource book for </a:t>
            </a:r>
            <a:r>
              <a:rPr lang="en-US" dirty="0" smtClean="0"/>
              <a:t>students. </a:t>
            </a:r>
            <a:r>
              <a:rPr lang="en-US" dirty="0"/>
              <a:t>London: </a:t>
            </a:r>
            <a:r>
              <a:rPr lang="en-US" dirty="0" err="1"/>
              <a:t>Routlegde</a:t>
            </a:r>
            <a:r>
              <a:rPr lang="en-US" dirty="0"/>
              <a:t>. </a:t>
            </a:r>
            <a:r>
              <a:rPr lang="en-US" dirty="0" smtClean="0"/>
              <a:t>(120-128)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685-13BA-4B5C-9398-9F8F28F6665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6088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Aqua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Black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Blue Steel ">
  <a:themeElements>
    <a:clrScheme name="MMU Heritage palette">
      <a:dk1>
        <a:sysClr val="windowText" lastClr="000000"/>
      </a:dk1>
      <a:lt1>
        <a:sysClr val="window" lastClr="FFFFFF"/>
      </a:lt1>
      <a:dk2>
        <a:srgbClr val="506D85"/>
      </a:dk2>
      <a:lt2>
        <a:srgbClr val="D1DDE6"/>
      </a:lt2>
      <a:accent1>
        <a:srgbClr val="EB0029"/>
      </a:accent1>
      <a:accent2>
        <a:srgbClr val="672146"/>
      </a:accent2>
      <a:accent3>
        <a:srgbClr val="D35E13"/>
      </a:accent3>
      <a:accent4>
        <a:srgbClr val="211551"/>
      </a:accent4>
      <a:accent5>
        <a:srgbClr val="004851"/>
      </a:accent5>
      <a:accent6>
        <a:srgbClr val="CDC400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Default Theme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Aqua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Black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Blue Steel ">
  <a:themeElements>
    <a:clrScheme name="MMU Heritage palette">
      <a:dk1>
        <a:sysClr val="windowText" lastClr="000000"/>
      </a:dk1>
      <a:lt1>
        <a:sysClr val="window" lastClr="FFFFFF"/>
      </a:lt1>
      <a:dk2>
        <a:srgbClr val="506D85"/>
      </a:dk2>
      <a:lt2>
        <a:srgbClr val="D1DDE6"/>
      </a:lt2>
      <a:accent1>
        <a:srgbClr val="EB0029"/>
      </a:accent1>
      <a:accent2>
        <a:srgbClr val="672146"/>
      </a:accent2>
      <a:accent3>
        <a:srgbClr val="D35E13"/>
      </a:accent3>
      <a:accent4>
        <a:srgbClr val="211551"/>
      </a:accent4>
      <a:accent5>
        <a:srgbClr val="004851"/>
      </a:accent5>
      <a:accent6>
        <a:srgbClr val="CDC400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Default Theme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4_Aqua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5_Black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Blue Steel ">
  <a:themeElements>
    <a:clrScheme name="MMU Heritage palette">
      <a:dk1>
        <a:sysClr val="windowText" lastClr="000000"/>
      </a:dk1>
      <a:lt1>
        <a:sysClr val="window" lastClr="FFFFFF"/>
      </a:lt1>
      <a:dk2>
        <a:srgbClr val="506D85"/>
      </a:dk2>
      <a:lt2>
        <a:srgbClr val="D1DDE6"/>
      </a:lt2>
      <a:accent1>
        <a:srgbClr val="EB0029"/>
      </a:accent1>
      <a:accent2>
        <a:srgbClr val="672146"/>
      </a:accent2>
      <a:accent3>
        <a:srgbClr val="D35E13"/>
      </a:accent3>
      <a:accent4>
        <a:srgbClr val="211551"/>
      </a:accent4>
      <a:accent5>
        <a:srgbClr val="004851"/>
      </a:accent5>
      <a:accent6>
        <a:srgbClr val="CDC400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_Default Theme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5_Aqua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6_Black">
  <a:themeElements>
    <a:clrScheme name="MMU brand colours">
      <a:dk1>
        <a:sysClr val="windowText" lastClr="000000"/>
      </a:dk1>
      <a:lt1>
        <a:sysClr val="window" lastClr="FFFFFF"/>
      </a:lt1>
      <a:dk2>
        <a:srgbClr val="00ACAF"/>
      </a:dk2>
      <a:lt2>
        <a:srgbClr val="AFBBC3"/>
      </a:lt2>
      <a:accent1>
        <a:srgbClr val="FFC627"/>
      </a:accent1>
      <a:accent2>
        <a:srgbClr val="ED6B06"/>
      </a:accent2>
      <a:accent3>
        <a:srgbClr val="EB0029"/>
      </a:accent3>
      <a:accent4>
        <a:srgbClr val="E70095"/>
      </a:accent4>
      <a:accent5>
        <a:srgbClr val="8D70B0"/>
      </a:accent5>
      <a:accent6>
        <a:srgbClr val="8AC2EB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7_Blue Steel ">
  <a:themeElements>
    <a:clrScheme name="MMU Heritage palette">
      <a:dk1>
        <a:sysClr val="windowText" lastClr="000000"/>
      </a:dk1>
      <a:lt1>
        <a:sysClr val="window" lastClr="FFFFFF"/>
      </a:lt1>
      <a:dk2>
        <a:srgbClr val="506D85"/>
      </a:dk2>
      <a:lt2>
        <a:srgbClr val="D1DDE6"/>
      </a:lt2>
      <a:accent1>
        <a:srgbClr val="EB0029"/>
      </a:accent1>
      <a:accent2>
        <a:srgbClr val="672146"/>
      </a:accent2>
      <a:accent3>
        <a:srgbClr val="D35E13"/>
      </a:accent3>
      <a:accent4>
        <a:srgbClr val="211551"/>
      </a:accent4>
      <a:accent5>
        <a:srgbClr val="004851"/>
      </a:accent5>
      <a:accent6>
        <a:srgbClr val="CDC400"/>
      </a:accent6>
      <a:hlink>
        <a:srgbClr val="003197"/>
      </a:hlink>
      <a:folHlink>
        <a:srgbClr val="95C11F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1213</TotalTime>
  <Words>1961</Words>
  <Application>Microsoft Macintosh PowerPoint</Application>
  <PresentationFormat>On-screen Show (4:3)</PresentationFormat>
  <Paragraphs>181</Paragraphs>
  <Slides>30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16</vt:i4>
      </vt:variant>
      <vt:variant>
        <vt:lpstr>Slide Titles</vt:lpstr>
      </vt:variant>
      <vt:variant>
        <vt:i4>30</vt:i4>
      </vt:variant>
    </vt:vector>
  </HeadingPairs>
  <TitlesOfParts>
    <vt:vector size="46" baseType="lpstr">
      <vt:lpstr>Default Theme</vt:lpstr>
      <vt:lpstr>2_Aqua</vt:lpstr>
      <vt:lpstr>3_Black</vt:lpstr>
      <vt:lpstr>4_Blue Steel </vt:lpstr>
      <vt:lpstr>1_Default Theme</vt:lpstr>
      <vt:lpstr>3_Aqua</vt:lpstr>
      <vt:lpstr>4_Black</vt:lpstr>
      <vt:lpstr>5_Blue Steel </vt:lpstr>
      <vt:lpstr>2_Default Theme</vt:lpstr>
      <vt:lpstr>4_Aqua</vt:lpstr>
      <vt:lpstr>5_Black</vt:lpstr>
      <vt:lpstr>6_Blue Steel </vt:lpstr>
      <vt:lpstr>3_Default Theme</vt:lpstr>
      <vt:lpstr>5_Aqua</vt:lpstr>
      <vt:lpstr>6_Black</vt:lpstr>
      <vt:lpstr>7_Blue Steel </vt:lpstr>
      <vt:lpstr>Dr Stella Bullo</vt:lpstr>
      <vt:lpstr>Outline </vt:lpstr>
      <vt:lpstr>Who are you?</vt:lpstr>
      <vt:lpstr>identity</vt:lpstr>
      <vt:lpstr>Characteristics of identity: discuss (Jackson, 2014)</vt:lpstr>
      <vt:lpstr>1. Identities are formed during the socialization process</vt:lpstr>
      <vt:lpstr>2. Identities are shaped in diverse ways  in different cultural contexts</vt:lpstr>
      <vt:lpstr>3. Identities are multiple and complex</vt:lpstr>
      <vt:lpstr>4. Identities are dynamic and fluid</vt:lpstr>
      <vt:lpstr>5. Identities are both avowed and ascribed </vt:lpstr>
      <vt:lpstr>6. Identities are variable in salience and intensity</vt:lpstr>
      <vt:lpstr>7. Identities are expressed verbally and nonverbally</vt:lpstr>
      <vt:lpstr>Types of identities</vt:lpstr>
      <vt:lpstr>A. Personal identity</vt:lpstr>
      <vt:lpstr>B. Social identity</vt:lpstr>
      <vt:lpstr>C. Cultural identity</vt:lpstr>
      <vt:lpstr>D. Multicultural identities</vt:lpstr>
      <vt:lpstr>Multicultural identities and marginality</vt:lpstr>
      <vt:lpstr>E. Language identity</vt:lpstr>
      <vt:lpstr>Language identity ii</vt:lpstr>
      <vt:lpstr>ANALYSING IDENTITIES (Holiday, 2010) </vt:lpstr>
      <vt:lpstr>Pavlenko and Blackledge (2003)</vt:lpstr>
      <vt:lpstr>Task: types of identities</vt:lpstr>
      <vt:lpstr>Identity and language learning</vt:lpstr>
      <vt:lpstr>DISCUSSION</vt:lpstr>
      <vt:lpstr>Identity and language learning</vt:lpstr>
      <vt:lpstr>1. Social distance</vt:lpstr>
      <vt:lpstr>2. Psychological distance </vt:lpstr>
      <vt:lpstr>Psychological distance ii</vt:lpstr>
      <vt:lpstr>References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Jackson</dc:creator>
  <cp:lastModifiedBy>Stella Bullo</cp:lastModifiedBy>
  <cp:revision>144</cp:revision>
  <dcterms:created xsi:type="dcterms:W3CDTF">2013-07-10T20:58:12Z</dcterms:created>
  <dcterms:modified xsi:type="dcterms:W3CDTF">2019-03-13T17:32:45Z</dcterms:modified>
</cp:coreProperties>
</file>